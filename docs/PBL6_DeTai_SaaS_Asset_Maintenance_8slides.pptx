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2D3EE"/>
          </a:solidFill>
          <a:ln w="12700">
            <a:solidFill>
              <a:srgbClr val="22D3EE"/>
            </a:solidFill>
            <a:prstDash val="solid"/>
          </a:ln>
        </p:spPr>
      </p:sp>
      <p:sp>
        <p:nvSpPr>
          <p:cNvPr id="3" name="Text 1"/>
          <p:cNvSpPr/>
          <p:nvPr/>
        </p:nvSpPr>
        <p:spPr>
          <a:xfrm>
            <a:off x="411480" y="6519672"/>
            <a:ext cx="5943600" cy="164592"/>
          </a:xfrm>
          <a:prstGeom prst="rect">
            <a:avLst/>
          </a:prstGeom>
          <a:noFill/>
          <a:ln/>
        </p:spPr>
        <p:txBody>
          <a:bodyPr wrap="square" lIns="0" tIns="0" rIns="0" bIns="0" rtlCol="0" anchor="ctr"/>
          <a:lstStyle/>
          <a:p>
            <a:pPr indent="0" marL="0">
              <a:buNone/>
            </a:pPr>
            <a:r>
              <a:rPr lang="en-US" sz="850" dirty="0">
                <a:solidFill>
                  <a:srgbClr val="7E8CA8"/>
                </a:solidFill>
                <a:latin typeface="Aptos" pitchFamily="34" charset="0"/>
                <a:ea typeface="Aptos" pitchFamily="34" charset="-122"/>
                <a:cs typeface="Aptos" pitchFamily="34" charset="-120"/>
              </a:rPr>
              <a:t>PBL6 • SaaS Asset Maintenance Platform</a:t>
            </a:r>
            <a:endParaRPr lang="en-US" sz="850" dirty="0"/>
          </a:p>
        </p:txBody>
      </p:sp>
      <p:sp>
        <p:nvSpPr>
          <p:cNvPr id="4" name="Text 2"/>
          <p:cNvSpPr/>
          <p:nvPr/>
        </p:nvSpPr>
        <p:spPr>
          <a:xfrm>
            <a:off x="9966960" y="6519672"/>
            <a:ext cx="1783080" cy="164592"/>
          </a:xfrm>
          <a:prstGeom prst="rect">
            <a:avLst/>
          </a:prstGeom>
          <a:noFill/>
          <a:ln/>
        </p:spPr>
        <p:txBody>
          <a:bodyPr wrap="square" lIns="0" tIns="0" rIns="0" bIns="0" rtlCol="0" anchor="ctr"/>
          <a:lstStyle/>
          <a:p>
            <a:pPr algn="r" indent="0" marL="0">
              <a:buNone/>
            </a:pPr>
            <a:r>
              <a:rPr lang="en-US" sz="850" dirty="0">
                <a:solidFill>
                  <a:srgbClr val="7E8CA8"/>
                </a:solidFill>
                <a:latin typeface="Aptos" pitchFamily="34" charset="0"/>
                <a:ea typeface="Aptos" pitchFamily="34" charset="-122"/>
                <a:cs typeface="Aptos" pitchFamily="34" charset="-120"/>
              </a:rPr>
              <a:t>Đại học Duy Tân</a:t>
            </a:r>
            <a:endParaRPr lang="en-US" sz="850" dirty="0"/>
          </a:p>
        </p:txBody>
      </p:sp>
      <p:sp>
        <p:nvSpPr>
          <p:cNvPr id="25" name="Slide Number Placeholder 0"/>
          <p:cNvSpPr>
            <a:spLocks noGrp="1"/>
          </p:cNvSpPr>
          <p:nvPr>
            <p:ph type="sldNum" sz="quarter" idx="4294967295"/>
          </p:nvPr>
        </p:nvSpPr>
        <p:spPr>
          <a:xfrm>
            <a:off x="11795760" y="6510528"/>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E8CA8"/>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95760" y="6510528"/>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E8CA8"/>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91440"/>
            <a:ext cx="12191695" cy="6428232"/>
          </a:xfrm>
          <a:prstGeom prst="rect">
            <a:avLst/>
          </a:prstGeom>
          <a:solidFill>
            <a:srgbClr val="0B1220"/>
          </a:solidFill>
          <a:ln w="12700">
            <a:solidFill>
              <a:srgbClr val="0B1220"/>
            </a:solidFill>
            <a:prstDash val="solid"/>
          </a:ln>
        </p:spPr>
      </p:sp>
      <p:sp>
        <p:nvSpPr>
          <p:cNvPr id="3" name="Shape 1"/>
          <p:cNvSpPr/>
          <p:nvPr/>
        </p:nvSpPr>
        <p:spPr>
          <a:xfrm>
            <a:off x="566928" y="502920"/>
            <a:ext cx="1051560" cy="329184"/>
          </a:xfrm>
          <a:prstGeom prst="roundRect">
            <a:avLst>
              <a:gd name="adj" fmla="val 33333"/>
            </a:avLst>
          </a:prstGeom>
          <a:solidFill>
            <a:srgbClr val="22D3EE"/>
          </a:solidFill>
          <a:ln w="12700">
            <a:solidFill>
              <a:srgbClr val="22D3EE"/>
            </a:solidFill>
            <a:prstDash val="solid"/>
          </a:ln>
        </p:spPr>
      </p:sp>
      <p:sp>
        <p:nvSpPr>
          <p:cNvPr id="4" name="Text 2"/>
          <p:cNvSpPr/>
          <p:nvPr/>
        </p:nvSpPr>
        <p:spPr>
          <a:xfrm>
            <a:off x="566928" y="530352"/>
            <a:ext cx="1051560" cy="201168"/>
          </a:xfrm>
          <a:prstGeom prst="rect">
            <a:avLst/>
          </a:prstGeom>
          <a:noFill/>
          <a:ln/>
        </p:spPr>
        <p:txBody>
          <a:bodyPr wrap="square" lIns="0" tIns="0" rIns="0" bIns="0" rtlCol="0" anchor="ctr"/>
          <a:lstStyle/>
          <a:p>
            <a:pPr algn="ctr" indent="0" marL="0">
              <a:buNone/>
            </a:pPr>
            <a:r>
              <a:rPr lang="en-US" sz="950" b="1" dirty="0">
                <a:solidFill>
                  <a:srgbClr val="0B1220"/>
                </a:solidFill>
              </a:rPr>
              <a:t>PBL6</a:t>
            </a:r>
            <a:endParaRPr lang="en-US" sz="950" dirty="0"/>
          </a:p>
        </p:txBody>
      </p:sp>
      <p:sp>
        <p:nvSpPr>
          <p:cNvPr id="5" name="Text 3"/>
          <p:cNvSpPr/>
          <p:nvPr/>
        </p:nvSpPr>
        <p:spPr>
          <a:xfrm>
            <a:off x="566928" y="1078992"/>
            <a:ext cx="8869680" cy="1417320"/>
          </a:xfrm>
          <a:prstGeom prst="rect">
            <a:avLst/>
          </a:prstGeom>
          <a:noFill/>
          <a:ln/>
        </p:spPr>
        <p:txBody>
          <a:bodyPr wrap="square" lIns="0" tIns="0" rIns="0" bIns="0" rtlCol="0" anchor="ctr"/>
          <a:lstStyle/>
          <a:p>
            <a:pPr indent="0" marL="0">
              <a:buNone/>
            </a:pPr>
            <a:r>
              <a:rPr lang="en-US" sz="3000" b="1" dirty="0">
                <a:solidFill>
                  <a:srgbClr val="F8FAFC"/>
                </a:solidFill>
                <a:latin typeface="Aptos Display" pitchFamily="34" charset="0"/>
                <a:ea typeface="Aptos Display" pitchFamily="34" charset="-122"/>
                <a:cs typeface="Aptos Display" pitchFamily="34" charset="-120"/>
              </a:rPr>
              <a:t>NỀN TẢNG SaaS QUẢN LÝ TÀI SẢN,</a:t>
            </a:r>
            <a:endParaRPr lang="en-US" sz="3000" dirty="0"/>
          </a:p>
          <a:p>
            <a:pPr indent="0" marL="0">
              <a:buNone/>
            </a:pPr>
            <a:r>
              <a:rPr lang="en-US" sz="3000" b="1" dirty="0">
                <a:solidFill>
                  <a:srgbClr val="F8FAFC"/>
                </a:solidFill>
                <a:latin typeface="Aptos Display" pitchFamily="34" charset="0"/>
                <a:ea typeface="Aptos Display" pitchFamily="34" charset="-122"/>
                <a:cs typeface="Aptos Display" pitchFamily="34" charset="-120"/>
              </a:rPr>
              <a:t>BẢO TRÌ &amp; ĐIỀU PHỐI KỸ THUẬT VIÊN</a:t>
            </a:r>
            <a:endParaRPr lang="en-US" sz="3000" dirty="0"/>
          </a:p>
        </p:txBody>
      </p:sp>
      <p:sp>
        <p:nvSpPr>
          <p:cNvPr id="6" name="Text 4"/>
          <p:cNvSpPr/>
          <p:nvPr/>
        </p:nvSpPr>
        <p:spPr>
          <a:xfrm>
            <a:off x="585216" y="2724912"/>
            <a:ext cx="7589520" cy="731520"/>
          </a:xfrm>
          <a:prstGeom prst="rect">
            <a:avLst/>
          </a:prstGeom>
          <a:noFill/>
          <a:ln/>
        </p:spPr>
        <p:txBody>
          <a:bodyPr wrap="square" lIns="0" tIns="0" rIns="0" bIns="0" rtlCol="0" anchor="ctr"/>
          <a:lstStyle/>
          <a:p>
            <a:pPr indent="0" marL="0">
              <a:buNone/>
            </a:pPr>
            <a:r>
              <a:rPr lang="en-US" sz="1450" dirty="0">
                <a:solidFill>
                  <a:srgbClr val="D7E0EF"/>
                </a:solidFill>
              </a:rPr>
              <a:t>Xây dựng hệ thống đa doanh nghiệp giúp quản lý vòng đời thiết bị, lập kế hoạch bảo trì, tạo Work Order và hỗ trợ kỹ thuật viên hiện trường trên mobile.</a:t>
            </a:r>
            <a:endParaRPr lang="en-US" sz="1450" dirty="0"/>
          </a:p>
        </p:txBody>
      </p:sp>
      <p:sp>
        <p:nvSpPr>
          <p:cNvPr id="7" name="Shape 5"/>
          <p:cNvSpPr/>
          <p:nvPr/>
        </p:nvSpPr>
        <p:spPr>
          <a:xfrm>
            <a:off x="9555480" y="1078992"/>
            <a:ext cx="1051560" cy="1051560"/>
          </a:xfrm>
          <a:prstGeom prst="ellipse">
            <a:avLst/>
          </a:prstGeom>
          <a:solidFill>
            <a:srgbClr val="22D3EE"/>
          </a:solidFill>
          <a:ln w="12700">
            <a:solidFill>
              <a:srgbClr val="22D3EE"/>
            </a:solidFill>
            <a:prstDash val="solid"/>
          </a:ln>
        </p:spPr>
      </p:sp>
      <p:sp>
        <p:nvSpPr>
          <p:cNvPr id="8" name="Text 6"/>
          <p:cNvSpPr/>
          <p:nvPr/>
        </p:nvSpPr>
        <p:spPr>
          <a:xfrm>
            <a:off x="9555480" y="1289304"/>
            <a:ext cx="1051560" cy="473202"/>
          </a:xfrm>
          <a:prstGeom prst="rect">
            <a:avLst/>
          </a:prstGeom>
          <a:noFill/>
          <a:ln/>
        </p:spPr>
        <p:txBody>
          <a:bodyPr wrap="square" lIns="0" tIns="0" rIns="0" bIns="0" rtlCol="0" anchor="ctr"/>
          <a:lstStyle/>
          <a:p>
            <a:pPr algn="ctr" indent="0" marL="0">
              <a:buNone/>
            </a:pPr>
            <a:r>
              <a:rPr lang="en-US" sz="2070" b="1" dirty="0">
                <a:solidFill>
                  <a:srgbClr val="0B1220"/>
                </a:solidFill>
              </a:rPr>
              <a:t>S</a:t>
            </a:r>
            <a:endParaRPr lang="en-US" sz="2070" dirty="0"/>
          </a:p>
        </p:txBody>
      </p:sp>
      <p:sp>
        <p:nvSpPr>
          <p:cNvPr id="9" name="Text 7"/>
          <p:cNvSpPr/>
          <p:nvPr/>
        </p:nvSpPr>
        <p:spPr>
          <a:xfrm>
            <a:off x="9208008" y="2240280"/>
            <a:ext cx="1737360" cy="292608"/>
          </a:xfrm>
          <a:prstGeom prst="rect">
            <a:avLst/>
          </a:prstGeom>
          <a:noFill/>
          <a:ln/>
        </p:spPr>
        <p:txBody>
          <a:bodyPr wrap="square" lIns="0" tIns="0" rIns="0" bIns="0" rtlCol="0" anchor="ctr"/>
          <a:lstStyle/>
          <a:p>
            <a:pPr algn="ctr" indent="0" marL="0">
              <a:buNone/>
            </a:pPr>
            <a:r>
              <a:rPr lang="en-US" sz="1800" b="1" dirty="0">
                <a:solidFill>
                  <a:srgbClr val="F8FAFC"/>
                </a:solidFill>
              </a:rPr>
              <a:t>SaaS</a:t>
            </a:r>
            <a:endParaRPr lang="en-US" sz="1800" dirty="0"/>
          </a:p>
        </p:txBody>
      </p:sp>
      <p:sp>
        <p:nvSpPr>
          <p:cNvPr id="10" name="Text 8"/>
          <p:cNvSpPr/>
          <p:nvPr/>
        </p:nvSpPr>
        <p:spPr>
          <a:xfrm>
            <a:off x="9208008" y="2578608"/>
            <a:ext cx="1737360" cy="274320"/>
          </a:xfrm>
          <a:prstGeom prst="rect">
            <a:avLst/>
          </a:prstGeom>
          <a:noFill/>
          <a:ln/>
        </p:spPr>
        <p:txBody>
          <a:bodyPr wrap="square" lIns="0" tIns="0" rIns="0" bIns="0" rtlCol="0" anchor="ctr"/>
          <a:lstStyle/>
          <a:p>
            <a:pPr algn="ctr" indent="0" marL="0">
              <a:buNone/>
            </a:pPr>
            <a:r>
              <a:rPr lang="en-US" sz="1050" dirty="0">
                <a:solidFill>
                  <a:srgbClr val="8EA0BD"/>
                </a:solidFill>
              </a:rPr>
              <a:t>Multi-Tenant</a:t>
            </a:r>
            <a:endParaRPr lang="en-US" sz="1050" dirty="0"/>
          </a:p>
        </p:txBody>
      </p:sp>
      <p:sp>
        <p:nvSpPr>
          <p:cNvPr id="11" name="Shape 9"/>
          <p:cNvSpPr/>
          <p:nvPr/>
        </p:nvSpPr>
        <p:spPr>
          <a:xfrm>
            <a:off x="585216" y="4160520"/>
            <a:ext cx="3246120" cy="1188720"/>
          </a:xfrm>
          <a:prstGeom prst="roundRect">
            <a:avLst>
              <a:gd name="adj" fmla="val 6154"/>
            </a:avLst>
          </a:prstGeom>
          <a:solidFill>
            <a:srgbClr val="111B2E"/>
          </a:solidFill>
          <a:ln w="12700">
            <a:solidFill>
              <a:srgbClr val="213553"/>
            </a:solidFill>
            <a:prstDash val="solid"/>
          </a:ln>
        </p:spPr>
      </p:sp>
      <p:sp>
        <p:nvSpPr>
          <p:cNvPr id="12" name="Shape 10"/>
          <p:cNvSpPr/>
          <p:nvPr/>
        </p:nvSpPr>
        <p:spPr>
          <a:xfrm>
            <a:off x="585216" y="4160520"/>
            <a:ext cx="64008" cy="1188720"/>
          </a:xfrm>
          <a:prstGeom prst="rect">
            <a:avLst/>
          </a:prstGeom>
          <a:solidFill>
            <a:srgbClr val="3B82F6"/>
          </a:solidFill>
          <a:ln w="12700">
            <a:solidFill>
              <a:srgbClr val="3B82F6"/>
            </a:solidFill>
            <a:prstDash val="solid"/>
          </a:ln>
        </p:spPr>
      </p:sp>
      <p:sp>
        <p:nvSpPr>
          <p:cNvPr id="13" name="Text 11"/>
          <p:cNvSpPr/>
          <p:nvPr/>
        </p:nvSpPr>
        <p:spPr>
          <a:xfrm>
            <a:off x="786384" y="4315968"/>
            <a:ext cx="2926080" cy="274320"/>
          </a:xfrm>
          <a:prstGeom prst="rect">
            <a:avLst/>
          </a:prstGeom>
          <a:noFill/>
          <a:ln/>
        </p:spPr>
        <p:txBody>
          <a:bodyPr wrap="square" lIns="0" tIns="0" rIns="0" bIns="0" rtlCol="0" anchor="ctr"/>
          <a:lstStyle/>
          <a:p>
            <a:pPr indent="0" marL="0">
              <a:buNone/>
            </a:pPr>
            <a:r>
              <a:rPr lang="en-US" sz="1350" b="1" dirty="0">
                <a:solidFill>
                  <a:srgbClr val="F8FAFC"/>
                </a:solidFill>
              </a:rPr>
              <a:t>01  Asset Management</a:t>
            </a:r>
            <a:endParaRPr lang="en-US" sz="1350" dirty="0"/>
          </a:p>
        </p:txBody>
      </p:sp>
      <p:sp>
        <p:nvSpPr>
          <p:cNvPr id="14" name="Text 12"/>
          <p:cNvSpPr/>
          <p:nvPr/>
        </p:nvSpPr>
        <p:spPr>
          <a:xfrm>
            <a:off x="786384" y="4663440"/>
            <a:ext cx="2926080" cy="548640"/>
          </a:xfrm>
          <a:prstGeom prst="rect">
            <a:avLst/>
          </a:prstGeom>
          <a:noFill/>
          <a:ln/>
        </p:spPr>
        <p:txBody>
          <a:bodyPr wrap="square" lIns="254" tIns="254" rIns="254" bIns="254" rtlCol="0" anchor="t"/>
          <a:lstStyle/>
          <a:p>
            <a:pPr indent="0" marL="0">
              <a:buNone/>
            </a:pPr>
            <a:r>
              <a:rPr lang="en-US" sz="1030" dirty="0">
                <a:solidFill>
                  <a:srgbClr val="D7E0EF"/>
                </a:solidFill>
              </a:rPr>
              <a:t>Quản lý tài sản, vị trí, lịch sử, vendor &amp; warranty.</a:t>
            </a:r>
            <a:endParaRPr lang="en-US" sz="1030" dirty="0"/>
          </a:p>
        </p:txBody>
      </p:sp>
      <p:sp>
        <p:nvSpPr>
          <p:cNvPr id="15" name="Shape 13"/>
          <p:cNvSpPr/>
          <p:nvPr/>
        </p:nvSpPr>
        <p:spPr>
          <a:xfrm>
            <a:off x="4069080" y="4160520"/>
            <a:ext cx="3246120" cy="1188720"/>
          </a:xfrm>
          <a:prstGeom prst="roundRect">
            <a:avLst>
              <a:gd name="adj" fmla="val 6154"/>
            </a:avLst>
          </a:prstGeom>
          <a:solidFill>
            <a:srgbClr val="111B2E"/>
          </a:solidFill>
          <a:ln w="12700">
            <a:solidFill>
              <a:srgbClr val="213553"/>
            </a:solidFill>
            <a:prstDash val="solid"/>
          </a:ln>
        </p:spPr>
      </p:sp>
      <p:sp>
        <p:nvSpPr>
          <p:cNvPr id="16" name="Shape 14"/>
          <p:cNvSpPr/>
          <p:nvPr/>
        </p:nvSpPr>
        <p:spPr>
          <a:xfrm>
            <a:off x="4069080" y="4160520"/>
            <a:ext cx="64008" cy="1188720"/>
          </a:xfrm>
          <a:prstGeom prst="rect">
            <a:avLst/>
          </a:prstGeom>
          <a:solidFill>
            <a:srgbClr val="10B981"/>
          </a:solidFill>
          <a:ln w="12700">
            <a:solidFill>
              <a:srgbClr val="10B981"/>
            </a:solidFill>
            <a:prstDash val="solid"/>
          </a:ln>
        </p:spPr>
      </p:sp>
      <p:sp>
        <p:nvSpPr>
          <p:cNvPr id="17" name="Text 15"/>
          <p:cNvSpPr/>
          <p:nvPr/>
        </p:nvSpPr>
        <p:spPr>
          <a:xfrm>
            <a:off x="4270248" y="4315968"/>
            <a:ext cx="2926080" cy="274320"/>
          </a:xfrm>
          <a:prstGeom prst="rect">
            <a:avLst/>
          </a:prstGeom>
          <a:noFill/>
          <a:ln/>
        </p:spPr>
        <p:txBody>
          <a:bodyPr wrap="square" lIns="0" tIns="0" rIns="0" bIns="0" rtlCol="0" anchor="ctr"/>
          <a:lstStyle/>
          <a:p>
            <a:pPr indent="0" marL="0">
              <a:buNone/>
            </a:pPr>
            <a:r>
              <a:rPr lang="en-US" sz="1350" b="1" dirty="0">
                <a:solidFill>
                  <a:srgbClr val="F8FAFC"/>
                </a:solidFill>
              </a:rPr>
              <a:t>02  Maintenance</a:t>
            </a:r>
            <a:endParaRPr lang="en-US" sz="1350" dirty="0"/>
          </a:p>
        </p:txBody>
      </p:sp>
      <p:sp>
        <p:nvSpPr>
          <p:cNvPr id="18" name="Text 16"/>
          <p:cNvSpPr/>
          <p:nvPr/>
        </p:nvSpPr>
        <p:spPr>
          <a:xfrm>
            <a:off x="4270248" y="4663440"/>
            <a:ext cx="2926080" cy="548640"/>
          </a:xfrm>
          <a:prstGeom prst="rect">
            <a:avLst/>
          </a:prstGeom>
          <a:noFill/>
          <a:ln/>
        </p:spPr>
        <p:txBody>
          <a:bodyPr wrap="square" lIns="254" tIns="254" rIns="254" bIns="254" rtlCol="0" anchor="t"/>
          <a:lstStyle/>
          <a:p>
            <a:pPr indent="0" marL="0">
              <a:buNone/>
            </a:pPr>
            <a:r>
              <a:rPr lang="en-US" sz="1030" dirty="0">
                <a:solidFill>
                  <a:srgbClr val="D7E0EF"/>
                </a:solidFill>
              </a:rPr>
              <a:t>Kế hoạch bảo trì, lịch định kỳ, checklist và cảnh báo.</a:t>
            </a:r>
            <a:endParaRPr lang="en-US" sz="1030" dirty="0"/>
          </a:p>
        </p:txBody>
      </p:sp>
      <p:sp>
        <p:nvSpPr>
          <p:cNvPr id="19" name="Shape 17"/>
          <p:cNvSpPr/>
          <p:nvPr/>
        </p:nvSpPr>
        <p:spPr>
          <a:xfrm>
            <a:off x="7552944" y="4160520"/>
            <a:ext cx="3657600" cy="1188720"/>
          </a:xfrm>
          <a:prstGeom prst="roundRect">
            <a:avLst>
              <a:gd name="adj" fmla="val 6154"/>
            </a:avLst>
          </a:prstGeom>
          <a:solidFill>
            <a:srgbClr val="111B2E"/>
          </a:solidFill>
          <a:ln w="12700">
            <a:solidFill>
              <a:srgbClr val="213553"/>
            </a:solidFill>
            <a:prstDash val="solid"/>
          </a:ln>
        </p:spPr>
      </p:sp>
      <p:sp>
        <p:nvSpPr>
          <p:cNvPr id="20" name="Shape 18"/>
          <p:cNvSpPr/>
          <p:nvPr/>
        </p:nvSpPr>
        <p:spPr>
          <a:xfrm>
            <a:off x="7552944" y="4160520"/>
            <a:ext cx="64008" cy="1188720"/>
          </a:xfrm>
          <a:prstGeom prst="rect">
            <a:avLst/>
          </a:prstGeom>
          <a:solidFill>
            <a:srgbClr val="F59E0B"/>
          </a:solidFill>
          <a:ln w="12700">
            <a:solidFill>
              <a:srgbClr val="F59E0B"/>
            </a:solidFill>
            <a:prstDash val="solid"/>
          </a:ln>
        </p:spPr>
      </p:sp>
      <p:sp>
        <p:nvSpPr>
          <p:cNvPr id="21" name="Text 19"/>
          <p:cNvSpPr/>
          <p:nvPr/>
        </p:nvSpPr>
        <p:spPr>
          <a:xfrm>
            <a:off x="7754112" y="4315968"/>
            <a:ext cx="3337560" cy="274320"/>
          </a:xfrm>
          <a:prstGeom prst="rect">
            <a:avLst/>
          </a:prstGeom>
          <a:noFill/>
          <a:ln/>
        </p:spPr>
        <p:txBody>
          <a:bodyPr wrap="square" lIns="0" tIns="0" rIns="0" bIns="0" rtlCol="0" anchor="ctr"/>
          <a:lstStyle/>
          <a:p>
            <a:pPr indent="0" marL="0">
              <a:buNone/>
            </a:pPr>
            <a:r>
              <a:rPr lang="en-US" sz="1350" b="1" dirty="0">
                <a:solidFill>
                  <a:srgbClr val="F8FAFC"/>
                </a:solidFill>
              </a:rPr>
              <a:t>03  Field Service</a:t>
            </a:r>
            <a:endParaRPr lang="en-US" sz="1350" dirty="0"/>
          </a:p>
        </p:txBody>
      </p:sp>
      <p:sp>
        <p:nvSpPr>
          <p:cNvPr id="22" name="Text 20"/>
          <p:cNvSpPr/>
          <p:nvPr/>
        </p:nvSpPr>
        <p:spPr>
          <a:xfrm>
            <a:off x="7754112" y="4663440"/>
            <a:ext cx="3337560" cy="548640"/>
          </a:xfrm>
          <a:prstGeom prst="rect">
            <a:avLst/>
          </a:prstGeom>
          <a:noFill/>
          <a:ln/>
        </p:spPr>
        <p:txBody>
          <a:bodyPr wrap="square" lIns="254" tIns="254" rIns="254" bIns="254" rtlCol="0" anchor="t"/>
          <a:lstStyle/>
          <a:p>
            <a:pPr indent="0" marL="0">
              <a:buNone/>
            </a:pPr>
            <a:r>
              <a:rPr lang="en-US" sz="1030" dirty="0">
                <a:solidFill>
                  <a:srgbClr val="D7E0EF"/>
                </a:solidFill>
              </a:rPr>
              <a:t>Work Order, dispatch, mobile technician và minh chứng xử lý.</a:t>
            </a:r>
            <a:endParaRPr lang="en-US" sz="1030" dirty="0"/>
          </a:p>
        </p:txBody>
      </p:sp>
      <p:sp>
        <p:nvSpPr>
          <p:cNvPr id="23" name="Text 21"/>
          <p:cNvSpPr/>
          <p:nvPr/>
        </p:nvSpPr>
        <p:spPr>
          <a:xfrm>
            <a:off x="603504" y="5715000"/>
            <a:ext cx="10607040" cy="347472"/>
          </a:xfrm>
          <a:prstGeom prst="rect">
            <a:avLst/>
          </a:prstGeom>
          <a:noFill/>
          <a:ln/>
        </p:spPr>
        <p:txBody>
          <a:bodyPr wrap="square" lIns="0" tIns="0" rIns="0" bIns="0" rtlCol="0" anchor="ctr"/>
          <a:lstStyle/>
          <a:p>
            <a:pPr indent="0" marL="0">
              <a:buNone/>
            </a:pPr>
            <a:r>
              <a:rPr lang="en-US" sz="1100" dirty="0">
                <a:solidFill>
                  <a:srgbClr val="8EA0BD"/>
                </a:solidFill>
              </a:rPr>
              <a:t>Định hướng kiến trúc: Microservices • Web Admin • Web End-user • Mobile Technician</a:t>
            </a:r>
            <a:endParaRPr lang="en-US" sz="1100" dirty="0"/>
          </a:p>
        </p:txBody>
      </p:sp>
      <p:sp>
        <p:nvSpPr>
          <p:cNvPr id="25" name="Slide Number Placeholder 0"/>
          <p:cNvSpPr>
            <a:spLocks noGrp="1"/>
          </p:cNvSpPr>
          <p:nvPr>
            <p:ph type="sldNum" sz="quarter" idx="4294967295"/>
          </p:nvPr>
        </p:nvSpPr>
        <p:spPr>
          <a:xfrm>
            <a:off x="11795760" y="6510528"/>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E8CA8"/>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47472"/>
            <a:ext cx="11064240" cy="457200"/>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1. Bối cảnh &amp; vấn đề cần giải quyết</a:t>
            </a:r>
            <a:endParaRPr lang="en-US" sz="2600" dirty="0"/>
          </a:p>
        </p:txBody>
      </p:sp>
      <p:sp>
        <p:nvSpPr>
          <p:cNvPr id="3" name="Text 1"/>
          <p:cNvSpPr/>
          <p:nvPr/>
        </p:nvSpPr>
        <p:spPr>
          <a:xfrm>
            <a:off x="512064" y="841248"/>
            <a:ext cx="10972800" cy="310896"/>
          </a:xfrm>
          <a:prstGeom prst="rect">
            <a:avLst/>
          </a:prstGeom>
          <a:noFill/>
          <a:ln/>
        </p:spPr>
        <p:txBody>
          <a:bodyPr wrap="square" lIns="0" tIns="0" rIns="0" bIns="0" rtlCol="0" anchor="ctr"/>
          <a:lstStyle/>
          <a:p>
            <a:pPr indent="0" marL="0">
              <a:buNone/>
            </a:pPr>
            <a:r>
              <a:rPr lang="en-US" sz="1150" dirty="0">
                <a:solidFill>
                  <a:srgbClr val="8EA0BD"/>
                </a:solidFill>
                <a:latin typeface="Aptos" pitchFamily="34" charset="0"/>
                <a:ea typeface="Aptos" pitchFamily="34" charset="-122"/>
                <a:cs typeface="Aptos" pitchFamily="34" charset="-120"/>
              </a:rPr>
              <a:t>Từ quản lý rời rạc sang một nền tảng tập trung, có truy vết và điều phối.</a:t>
            </a:r>
            <a:endParaRPr lang="en-US" sz="1150" dirty="0"/>
          </a:p>
        </p:txBody>
      </p:sp>
      <p:sp>
        <p:nvSpPr>
          <p:cNvPr id="4" name="Text 2"/>
          <p:cNvSpPr/>
          <p:nvPr/>
        </p:nvSpPr>
        <p:spPr>
          <a:xfrm>
            <a:off x="566928" y="1417320"/>
            <a:ext cx="2743200" cy="320040"/>
          </a:xfrm>
          <a:prstGeom prst="rect">
            <a:avLst/>
          </a:prstGeom>
          <a:noFill/>
          <a:ln/>
        </p:spPr>
        <p:txBody>
          <a:bodyPr wrap="square" lIns="0" tIns="0" rIns="0" bIns="0" rtlCol="0" anchor="ctr"/>
          <a:lstStyle/>
          <a:p>
            <a:pPr indent="0" marL="0">
              <a:buNone/>
            </a:pPr>
            <a:r>
              <a:rPr lang="en-US" sz="1600" b="1" dirty="0">
                <a:solidFill>
                  <a:srgbClr val="22D3EE"/>
                </a:solidFill>
              </a:rPr>
              <a:t>Hiện trạng thường gặp</a:t>
            </a:r>
            <a:endParaRPr lang="en-US" sz="1600" dirty="0"/>
          </a:p>
        </p:txBody>
      </p:sp>
      <p:sp>
        <p:nvSpPr>
          <p:cNvPr id="5" name="Shape 3"/>
          <p:cNvSpPr/>
          <p:nvPr/>
        </p:nvSpPr>
        <p:spPr>
          <a:xfrm>
            <a:off x="658368" y="1874520"/>
            <a:ext cx="475488" cy="475488"/>
          </a:xfrm>
          <a:prstGeom prst="ellipse">
            <a:avLst/>
          </a:prstGeom>
          <a:solidFill>
            <a:srgbClr val="3B82F6"/>
          </a:solidFill>
          <a:ln w="12700">
            <a:solidFill>
              <a:srgbClr val="3B82F6"/>
            </a:solidFill>
            <a:prstDash val="solid"/>
          </a:ln>
        </p:spPr>
      </p:sp>
      <p:sp>
        <p:nvSpPr>
          <p:cNvPr id="6" name="Text 4"/>
          <p:cNvSpPr/>
          <p:nvPr/>
        </p:nvSpPr>
        <p:spPr>
          <a:xfrm>
            <a:off x="658368" y="1969618"/>
            <a:ext cx="475488" cy="213970"/>
          </a:xfrm>
          <a:prstGeom prst="rect">
            <a:avLst/>
          </a:prstGeom>
          <a:noFill/>
          <a:ln/>
        </p:spPr>
        <p:txBody>
          <a:bodyPr wrap="square" lIns="0" tIns="0" rIns="0" bIns="0" rtlCol="0" anchor="ctr"/>
          <a:lstStyle/>
          <a:p>
            <a:pPr algn="ctr" indent="0" marL="0">
              <a:buNone/>
            </a:pPr>
            <a:r>
              <a:rPr lang="en-US" sz="936" b="1" dirty="0">
                <a:solidFill>
                  <a:srgbClr val="0B1220"/>
                </a:solidFill>
              </a:rPr>
              <a:t>1</a:t>
            </a:r>
            <a:endParaRPr lang="en-US" sz="936" dirty="0"/>
          </a:p>
        </p:txBody>
      </p:sp>
      <p:sp>
        <p:nvSpPr>
          <p:cNvPr id="7" name="Text 5"/>
          <p:cNvSpPr/>
          <p:nvPr/>
        </p:nvSpPr>
        <p:spPr>
          <a:xfrm>
            <a:off x="1298448" y="1856232"/>
            <a:ext cx="2377440" cy="228600"/>
          </a:xfrm>
          <a:prstGeom prst="rect">
            <a:avLst/>
          </a:prstGeom>
          <a:noFill/>
          <a:ln/>
        </p:spPr>
        <p:txBody>
          <a:bodyPr wrap="square" lIns="0" tIns="0" rIns="0" bIns="0" rtlCol="0" anchor="ctr"/>
          <a:lstStyle/>
          <a:p>
            <a:pPr indent="0" marL="0">
              <a:buNone/>
            </a:pPr>
            <a:r>
              <a:rPr lang="en-US" sz="1250" b="1" dirty="0">
                <a:solidFill>
                  <a:srgbClr val="F8FAFC"/>
                </a:solidFill>
              </a:rPr>
              <a:t>Excel / giấy tờ</a:t>
            </a:r>
            <a:endParaRPr lang="en-US" sz="1250" dirty="0"/>
          </a:p>
        </p:txBody>
      </p:sp>
      <p:sp>
        <p:nvSpPr>
          <p:cNvPr id="8" name="Text 6"/>
          <p:cNvSpPr/>
          <p:nvPr/>
        </p:nvSpPr>
        <p:spPr>
          <a:xfrm>
            <a:off x="1298448" y="2130552"/>
            <a:ext cx="3657600" cy="320040"/>
          </a:xfrm>
          <a:prstGeom prst="rect">
            <a:avLst/>
          </a:prstGeom>
          <a:noFill/>
          <a:ln/>
        </p:spPr>
        <p:txBody>
          <a:bodyPr wrap="square" lIns="0" tIns="0" rIns="0" bIns="0" rtlCol="0" anchor="ctr"/>
          <a:lstStyle/>
          <a:p>
            <a:pPr indent="0" marL="0">
              <a:buNone/>
            </a:pPr>
            <a:r>
              <a:rPr lang="en-US" sz="980" dirty="0">
                <a:solidFill>
                  <a:srgbClr val="D7E0EF"/>
                </a:solidFill>
              </a:rPr>
              <a:t>Tài sản và lịch bảo trì nằm ở nhiều nguồn</a:t>
            </a:r>
            <a:endParaRPr lang="en-US" sz="980" dirty="0"/>
          </a:p>
        </p:txBody>
      </p:sp>
      <p:sp>
        <p:nvSpPr>
          <p:cNvPr id="9" name="Shape 7"/>
          <p:cNvSpPr/>
          <p:nvPr/>
        </p:nvSpPr>
        <p:spPr>
          <a:xfrm>
            <a:off x="658368" y="2788920"/>
            <a:ext cx="475488" cy="475488"/>
          </a:xfrm>
          <a:prstGeom prst="ellipse">
            <a:avLst/>
          </a:prstGeom>
          <a:solidFill>
            <a:srgbClr val="F59E0B"/>
          </a:solidFill>
          <a:ln w="12700">
            <a:solidFill>
              <a:srgbClr val="F59E0B"/>
            </a:solidFill>
            <a:prstDash val="solid"/>
          </a:ln>
        </p:spPr>
      </p:sp>
      <p:sp>
        <p:nvSpPr>
          <p:cNvPr id="10" name="Text 8"/>
          <p:cNvSpPr/>
          <p:nvPr/>
        </p:nvSpPr>
        <p:spPr>
          <a:xfrm>
            <a:off x="658368" y="2884018"/>
            <a:ext cx="475488" cy="213970"/>
          </a:xfrm>
          <a:prstGeom prst="rect">
            <a:avLst/>
          </a:prstGeom>
          <a:noFill/>
          <a:ln/>
        </p:spPr>
        <p:txBody>
          <a:bodyPr wrap="square" lIns="0" tIns="0" rIns="0" bIns="0" rtlCol="0" anchor="ctr"/>
          <a:lstStyle/>
          <a:p>
            <a:pPr algn="ctr" indent="0" marL="0">
              <a:buNone/>
            </a:pPr>
            <a:r>
              <a:rPr lang="en-US" sz="936" b="1" dirty="0">
                <a:solidFill>
                  <a:srgbClr val="0B1220"/>
                </a:solidFill>
              </a:rPr>
              <a:t>2</a:t>
            </a:r>
            <a:endParaRPr lang="en-US" sz="936" dirty="0"/>
          </a:p>
        </p:txBody>
      </p:sp>
      <p:sp>
        <p:nvSpPr>
          <p:cNvPr id="11" name="Text 9"/>
          <p:cNvSpPr/>
          <p:nvPr/>
        </p:nvSpPr>
        <p:spPr>
          <a:xfrm>
            <a:off x="1298448" y="2770632"/>
            <a:ext cx="2377440" cy="228600"/>
          </a:xfrm>
          <a:prstGeom prst="rect">
            <a:avLst/>
          </a:prstGeom>
          <a:noFill/>
          <a:ln/>
        </p:spPr>
        <p:txBody>
          <a:bodyPr wrap="square" lIns="0" tIns="0" rIns="0" bIns="0" rtlCol="0" anchor="ctr"/>
          <a:lstStyle/>
          <a:p>
            <a:pPr indent="0" marL="0">
              <a:buNone/>
            </a:pPr>
            <a:r>
              <a:rPr lang="en-US" sz="1250" b="1" dirty="0">
                <a:solidFill>
                  <a:srgbClr val="F8FAFC"/>
                </a:solidFill>
              </a:rPr>
              <a:t>Báo hỏng qua chat</a:t>
            </a:r>
            <a:endParaRPr lang="en-US" sz="1250" dirty="0"/>
          </a:p>
        </p:txBody>
      </p:sp>
      <p:sp>
        <p:nvSpPr>
          <p:cNvPr id="12" name="Text 10"/>
          <p:cNvSpPr/>
          <p:nvPr/>
        </p:nvSpPr>
        <p:spPr>
          <a:xfrm>
            <a:off x="1298448" y="3044952"/>
            <a:ext cx="3657600" cy="320040"/>
          </a:xfrm>
          <a:prstGeom prst="rect">
            <a:avLst/>
          </a:prstGeom>
          <a:noFill/>
          <a:ln/>
        </p:spPr>
        <p:txBody>
          <a:bodyPr wrap="square" lIns="0" tIns="0" rIns="0" bIns="0" rtlCol="0" anchor="ctr"/>
          <a:lstStyle/>
          <a:p>
            <a:pPr indent="0" marL="0">
              <a:buNone/>
            </a:pPr>
            <a:r>
              <a:rPr lang="en-US" sz="980" dirty="0">
                <a:solidFill>
                  <a:srgbClr val="D7E0EF"/>
                </a:solidFill>
              </a:rPr>
              <a:t>Khó theo dõi người chịu trách nhiệm</a:t>
            </a:r>
            <a:endParaRPr lang="en-US" sz="980" dirty="0"/>
          </a:p>
        </p:txBody>
      </p:sp>
      <p:sp>
        <p:nvSpPr>
          <p:cNvPr id="13" name="Shape 11"/>
          <p:cNvSpPr/>
          <p:nvPr/>
        </p:nvSpPr>
        <p:spPr>
          <a:xfrm>
            <a:off x="658368" y="3703320"/>
            <a:ext cx="475488" cy="475488"/>
          </a:xfrm>
          <a:prstGeom prst="ellipse">
            <a:avLst/>
          </a:prstGeom>
          <a:solidFill>
            <a:srgbClr val="8B5CF6"/>
          </a:solidFill>
          <a:ln w="12700">
            <a:solidFill>
              <a:srgbClr val="8B5CF6"/>
            </a:solidFill>
            <a:prstDash val="solid"/>
          </a:ln>
        </p:spPr>
      </p:sp>
      <p:sp>
        <p:nvSpPr>
          <p:cNvPr id="14" name="Text 12"/>
          <p:cNvSpPr/>
          <p:nvPr/>
        </p:nvSpPr>
        <p:spPr>
          <a:xfrm>
            <a:off x="658368" y="3798418"/>
            <a:ext cx="475488" cy="213970"/>
          </a:xfrm>
          <a:prstGeom prst="rect">
            <a:avLst/>
          </a:prstGeom>
          <a:noFill/>
          <a:ln/>
        </p:spPr>
        <p:txBody>
          <a:bodyPr wrap="square" lIns="0" tIns="0" rIns="0" bIns="0" rtlCol="0" anchor="ctr"/>
          <a:lstStyle/>
          <a:p>
            <a:pPr algn="ctr" indent="0" marL="0">
              <a:buNone/>
            </a:pPr>
            <a:r>
              <a:rPr lang="en-US" sz="936" b="1" dirty="0">
                <a:solidFill>
                  <a:srgbClr val="0B1220"/>
                </a:solidFill>
              </a:rPr>
              <a:t>3</a:t>
            </a:r>
            <a:endParaRPr lang="en-US" sz="936" dirty="0"/>
          </a:p>
        </p:txBody>
      </p:sp>
      <p:sp>
        <p:nvSpPr>
          <p:cNvPr id="15" name="Text 13"/>
          <p:cNvSpPr/>
          <p:nvPr/>
        </p:nvSpPr>
        <p:spPr>
          <a:xfrm>
            <a:off x="1298448" y="3685032"/>
            <a:ext cx="2377440" cy="228600"/>
          </a:xfrm>
          <a:prstGeom prst="rect">
            <a:avLst/>
          </a:prstGeom>
          <a:noFill/>
          <a:ln/>
        </p:spPr>
        <p:txBody>
          <a:bodyPr wrap="square" lIns="0" tIns="0" rIns="0" bIns="0" rtlCol="0" anchor="ctr"/>
          <a:lstStyle/>
          <a:p>
            <a:pPr indent="0" marL="0">
              <a:buNone/>
            </a:pPr>
            <a:r>
              <a:rPr lang="en-US" sz="1250" b="1" dirty="0">
                <a:solidFill>
                  <a:srgbClr val="F8FAFC"/>
                </a:solidFill>
              </a:rPr>
              <a:t>Vendor rời rạc</a:t>
            </a:r>
            <a:endParaRPr lang="en-US" sz="1250" dirty="0"/>
          </a:p>
        </p:txBody>
      </p:sp>
      <p:sp>
        <p:nvSpPr>
          <p:cNvPr id="16" name="Text 14"/>
          <p:cNvSpPr/>
          <p:nvPr/>
        </p:nvSpPr>
        <p:spPr>
          <a:xfrm>
            <a:off x="1298448" y="3959352"/>
            <a:ext cx="3657600" cy="320040"/>
          </a:xfrm>
          <a:prstGeom prst="rect">
            <a:avLst/>
          </a:prstGeom>
          <a:noFill/>
          <a:ln/>
        </p:spPr>
        <p:txBody>
          <a:bodyPr wrap="square" lIns="0" tIns="0" rIns="0" bIns="0" rtlCol="0" anchor="ctr"/>
          <a:lstStyle/>
          <a:p>
            <a:pPr indent="0" marL="0">
              <a:buNone/>
            </a:pPr>
            <a:r>
              <a:rPr lang="en-US" sz="980" dirty="0">
                <a:solidFill>
                  <a:srgbClr val="D7E0EF"/>
                </a:solidFill>
              </a:rPr>
              <a:t>Bảo hành và kỹ thuật ngoài khó kiểm soát</a:t>
            </a:r>
            <a:endParaRPr lang="en-US" sz="980" dirty="0"/>
          </a:p>
        </p:txBody>
      </p:sp>
      <p:sp>
        <p:nvSpPr>
          <p:cNvPr id="17" name="Shape 15"/>
          <p:cNvSpPr/>
          <p:nvPr/>
        </p:nvSpPr>
        <p:spPr>
          <a:xfrm>
            <a:off x="658368" y="4617720"/>
            <a:ext cx="475488" cy="475488"/>
          </a:xfrm>
          <a:prstGeom prst="ellipse">
            <a:avLst/>
          </a:prstGeom>
          <a:solidFill>
            <a:srgbClr val="EF4444"/>
          </a:solidFill>
          <a:ln w="12700">
            <a:solidFill>
              <a:srgbClr val="EF4444"/>
            </a:solidFill>
            <a:prstDash val="solid"/>
          </a:ln>
        </p:spPr>
      </p:sp>
      <p:sp>
        <p:nvSpPr>
          <p:cNvPr id="18" name="Text 16"/>
          <p:cNvSpPr/>
          <p:nvPr/>
        </p:nvSpPr>
        <p:spPr>
          <a:xfrm>
            <a:off x="658368" y="4712818"/>
            <a:ext cx="475488" cy="213970"/>
          </a:xfrm>
          <a:prstGeom prst="rect">
            <a:avLst/>
          </a:prstGeom>
          <a:noFill/>
          <a:ln/>
        </p:spPr>
        <p:txBody>
          <a:bodyPr wrap="square" lIns="0" tIns="0" rIns="0" bIns="0" rtlCol="0" anchor="ctr"/>
          <a:lstStyle/>
          <a:p>
            <a:pPr algn="ctr" indent="0" marL="0">
              <a:buNone/>
            </a:pPr>
            <a:r>
              <a:rPr lang="en-US" sz="936" b="1" dirty="0">
                <a:solidFill>
                  <a:srgbClr val="0B1220"/>
                </a:solidFill>
              </a:rPr>
              <a:t>4</a:t>
            </a:r>
            <a:endParaRPr lang="en-US" sz="936" dirty="0"/>
          </a:p>
        </p:txBody>
      </p:sp>
      <p:sp>
        <p:nvSpPr>
          <p:cNvPr id="19" name="Text 17"/>
          <p:cNvSpPr/>
          <p:nvPr/>
        </p:nvSpPr>
        <p:spPr>
          <a:xfrm>
            <a:off x="1298448" y="4599432"/>
            <a:ext cx="2377440" cy="228600"/>
          </a:xfrm>
          <a:prstGeom prst="rect">
            <a:avLst/>
          </a:prstGeom>
          <a:noFill/>
          <a:ln/>
        </p:spPr>
        <p:txBody>
          <a:bodyPr wrap="square" lIns="0" tIns="0" rIns="0" bIns="0" rtlCol="0" anchor="ctr"/>
          <a:lstStyle/>
          <a:p>
            <a:pPr indent="0" marL="0">
              <a:buNone/>
            </a:pPr>
            <a:r>
              <a:rPr lang="en-US" sz="1250" b="1" dirty="0">
                <a:solidFill>
                  <a:srgbClr val="F8FAFC"/>
                </a:solidFill>
              </a:rPr>
              <a:t>Thiếu lịch sử</a:t>
            </a:r>
            <a:endParaRPr lang="en-US" sz="1250" dirty="0"/>
          </a:p>
        </p:txBody>
      </p:sp>
      <p:sp>
        <p:nvSpPr>
          <p:cNvPr id="20" name="Text 18"/>
          <p:cNvSpPr/>
          <p:nvPr/>
        </p:nvSpPr>
        <p:spPr>
          <a:xfrm>
            <a:off x="1298448" y="4873752"/>
            <a:ext cx="3657600" cy="320040"/>
          </a:xfrm>
          <a:prstGeom prst="rect">
            <a:avLst/>
          </a:prstGeom>
          <a:noFill/>
          <a:ln/>
        </p:spPr>
        <p:txBody>
          <a:bodyPr wrap="square" lIns="0" tIns="0" rIns="0" bIns="0" rtlCol="0" anchor="ctr"/>
          <a:lstStyle/>
          <a:p>
            <a:pPr indent="0" marL="0">
              <a:buNone/>
            </a:pPr>
            <a:r>
              <a:rPr lang="en-US" sz="980" dirty="0">
                <a:solidFill>
                  <a:srgbClr val="D7E0EF"/>
                </a:solidFill>
              </a:rPr>
              <a:t>Khó thống kê chi phí và nguyên nhân hỏng</a:t>
            </a:r>
            <a:endParaRPr lang="en-US" sz="980" dirty="0"/>
          </a:p>
        </p:txBody>
      </p:sp>
      <p:sp>
        <p:nvSpPr>
          <p:cNvPr id="21" name="Shape 19"/>
          <p:cNvSpPr/>
          <p:nvPr/>
        </p:nvSpPr>
        <p:spPr>
          <a:xfrm>
            <a:off x="5486400" y="1581912"/>
            <a:ext cx="2788920" cy="1417320"/>
          </a:xfrm>
          <a:prstGeom prst="roundRect">
            <a:avLst>
              <a:gd name="adj" fmla="val 5161"/>
            </a:avLst>
          </a:prstGeom>
          <a:solidFill>
            <a:srgbClr val="111B2E"/>
          </a:solidFill>
          <a:ln w="12700">
            <a:solidFill>
              <a:srgbClr val="213553"/>
            </a:solidFill>
            <a:prstDash val="solid"/>
          </a:ln>
        </p:spPr>
      </p:sp>
      <p:sp>
        <p:nvSpPr>
          <p:cNvPr id="22" name="Shape 20"/>
          <p:cNvSpPr/>
          <p:nvPr/>
        </p:nvSpPr>
        <p:spPr>
          <a:xfrm>
            <a:off x="5486400" y="1581912"/>
            <a:ext cx="64008" cy="1417320"/>
          </a:xfrm>
          <a:prstGeom prst="rect">
            <a:avLst/>
          </a:prstGeom>
          <a:solidFill>
            <a:srgbClr val="EF4444"/>
          </a:solidFill>
          <a:ln w="12700">
            <a:solidFill>
              <a:srgbClr val="EF4444"/>
            </a:solidFill>
            <a:prstDash val="solid"/>
          </a:ln>
        </p:spPr>
      </p:sp>
      <p:sp>
        <p:nvSpPr>
          <p:cNvPr id="23" name="Text 21"/>
          <p:cNvSpPr/>
          <p:nvPr/>
        </p:nvSpPr>
        <p:spPr>
          <a:xfrm>
            <a:off x="5687568" y="1737360"/>
            <a:ext cx="2468880" cy="274320"/>
          </a:xfrm>
          <a:prstGeom prst="rect">
            <a:avLst/>
          </a:prstGeom>
          <a:noFill/>
          <a:ln/>
        </p:spPr>
        <p:txBody>
          <a:bodyPr wrap="square" lIns="0" tIns="0" rIns="0" bIns="0" rtlCol="0" anchor="ctr"/>
          <a:lstStyle/>
          <a:p>
            <a:pPr indent="0" marL="0">
              <a:buNone/>
            </a:pPr>
            <a:r>
              <a:rPr lang="en-US" sz="1350" b="1" dirty="0">
                <a:solidFill>
                  <a:srgbClr val="F8FAFC"/>
                </a:solidFill>
              </a:rPr>
              <a:t>Không biết “thiết bị đang ở đâu?”</a:t>
            </a:r>
            <a:endParaRPr lang="en-US" sz="1350" dirty="0"/>
          </a:p>
        </p:txBody>
      </p:sp>
      <p:sp>
        <p:nvSpPr>
          <p:cNvPr id="24" name="Text 22"/>
          <p:cNvSpPr/>
          <p:nvPr/>
        </p:nvSpPr>
        <p:spPr>
          <a:xfrm>
            <a:off x="5687568" y="2084832"/>
            <a:ext cx="2468880" cy="777240"/>
          </a:xfrm>
          <a:prstGeom prst="rect">
            <a:avLst/>
          </a:prstGeom>
          <a:noFill/>
          <a:ln/>
        </p:spPr>
        <p:txBody>
          <a:bodyPr wrap="square" lIns="254" tIns="254" rIns="254" bIns="254" rtlCol="0" anchor="t"/>
          <a:lstStyle/>
          <a:p>
            <a:pPr indent="0" marL="0">
              <a:buNone/>
            </a:pPr>
            <a:r>
              <a:rPr lang="en-US" sz="1000" dirty="0">
                <a:solidFill>
                  <a:srgbClr val="D7E0EF"/>
                </a:solidFill>
              </a:rPr>
              <a:t>Thiếu một nguồn dữ liệu trung tâm về trạng thái, vị trí và người đang sử dụng.</a:t>
            </a:r>
            <a:endParaRPr lang="en-US" sz="1000" dirty="0"/>
          </a:p>
        </p:txBody>
      </p:sp>
      <p:sp>
        <p:nvSpPr>
          <p:cNvPr id="25" name="Shape 23"/>
          <p:cNvSpPr/>
          <p:nvPr/>
        </p:nvSpPr>
        <p:spPr>
          <a:xfrm>
            <a:off x="8549640" y="1581912"/>
            <a:ext cx="2788920" cy="1417320"/>
          </a:xfrm>
          <a:prstGeom prst="roundRect">
            <a:avLst>
              <a:gd name="adj" fmla="val 5161"/>
            </a:avLst>
          </a:prstGeom>
          <a:solidFill>
            <a:srgbClr val="111B2E"/>
          </a:solidFill>
          <a:ln w="12700">
            <a:solidFill>
              <a:srgbClr val="213553"/>
            </a:solidFill>
            <a:prstDash val="solid"/>
          </a:ln>
        </p:spPr>
      </p:sp>
      <p:sp>
        <p:nvSpPr>
          <p:cNvPr id="26" name="Shape 24"/>
          <p:cNvSpPr/>
          <p:nvPr/>
        </p:nvSpPr>
        <p:spPr>
          <a:xfrm>
            <a:off x="8549640" y="1581912"/>
            <a:ext cx="64008" cy="1417320"/>
          </a:xfrm>
          <a:prstGeom prst="rect">
            <a:avLst/>
          </a:prstGeom>
          <a:solidFill>
            <a:srgbClr val="F59E0B"/>
          </a:solidFill>
          <a:ln w="12700">
            <a:solidFill>
              <a:srgbClr val="F59E0B"/>
            </a:solidFill>
            <a:prstDash val="solid"/>
          </a:ln>
        </p:spPr>
      </p:sp>
      <p:sp>
        <p:nvSpPr>
          <p:cNvPr id="27" name="Text 25"/>
          <p:cNvSpPr/>
          <p:nvPr/>
        </p:nvSpPr>
        <p:spPr>
          <a:xfrm>
            <a:off x="8750808" y="1737360"/>
            <a:ext cx="2468880" cy="274320"/>
          </a:xfrm>
          <a:prstGeom prst="rect">
            <a:avLst/>
          </a:prstGeom>
          <a:noFill/>
          <a:ln/>
        </p:spPr>
        <p:txBody>
          <a:bodyPr wrap="square" lIns="0" tIns="0" rIns="0" bIns="0" rtlCol="0" anchor="ctr"/>
          <a:lstStyle/>
          <a:p>
            <a:pPr indent="0" marL="0">
              <a:buNone/>
            </a:pPr>
            <a:r>
              <a:rPr lang="en-US" sz="1350" b="1" dirty="0">
                <a:solidFill>
                  <a:srgbClr val="F8FAFC"/>
                </a:solidFill>
              </a:rPr>
              <a:t>Dễ bỏ sót bảo trì</a:t>
            </a:r>
            <a:endParaRPr lang="en-US" sz="1350" dirty="0"/>
          </a:p>
        </p:txBody>
      </p:sp>
      <p:sp>
        <p:nvSpPr>
          <p:cNvPr id="28" name="Text 26"/>
          <p:cNvSpPr/>
          <p:nvPr/>
        </p:nvSpPr>
        <p:spPr>
          <a:xfrm>
            <a:off x="8750808" y="2084832"/>
            <a:ext cx="2468880" cy="777240"/>
          </a:xfrm>
          <a:prstGeom prst="rect">
            <a:avLst/>
          </a:prstGeom>
          <a:noFill/>
          <a:ln/>
        </p:spPr>
        <p:txBody>
          <a:bodyPr wrap="square" lIns="254" tIns="254" rIns="254" bIns="254" rtlCol="0" anchor="t"/>
          <a:lstStyle/>
          <a:p>
            <a:pPr indent="0" marL="0">
              <a:buNone/>
            </a:pPr>
            <a:r>
              <a:rPr lang="en-US" sz="1000" dirty="0">
                <a:solidFill>
                  <a:srgbClr val="D7E0EF"/>
                </a:solidFill>
              </a:rPr>
              <a:t>Không có lịch định kỳ, cảnh báo hạn và checklist chuẩn cho từng thiết bị.</a:t>
            </a:r>
            <a:endParaRPr lang="en-US" sz="1000" dirty="0"/>
          </a:p>
        </p:txBody>
      </p:sp>
      <p:sp>
        <p:nvSpPr>
          <p:cNvPr id="29" name="Shape 27"/>
          <p:cNvSpPr/>
          <p:nvPr/>
        </p:nvSpPr>
        <p:spPr>
          <a:xfrm>
            <a:off x="5486400" y="3337560"/>
            <a:ext cx="2788920" cy="1417320"/>
          </a:xfrm>
          <a:prstGeom prst="roundRect">
            <a:avLst>
              <a:gd name="adj" fmla="val 5161"/>
            </a:avLst>
          </a:prstGeom>
          <a:solidFill>
            <a:srgbClr val="111B2E"/>
          </a:solidFill>
          <a:ln w="12700">
            <a:solidFill>
              <a:srgbClr val="213553"/>
            </a:solidFill>
            <a:prstDash val="solid"/>
          </a:ln>
        </p:spPr>
      </p:sp>
      <p:sp>
        <p:nvSpPr>
          <p:cNvPr id="30" name="Shape 28"/>
          <p:cNvSpPr/>
          <p:nvPr/>
        </p:nvSpPr>
        <p:spPr>
          <a:xfrm>
            <a:off x="5486400" y="3337560"/>
            <a:ext cx="64008" cy="1417320"/>
          </a:xfrm>
          <a:prstGeom prst="rect">
            <a:avLst/>
          </a:prstGeom>
          <a:solidFill>
            <a:srgbClr val="3B82F6"/>
          </a:solidFill>
          <a:ln w="12700">
            <a:solidFill>
              <a:srgbClr val="3B82F6"/>
            </a:solidFill>
            <a:prstDash val="solid"/>
          </a:ln>
        </p:spPr>
      </p:sp>
      <p:sp>
        <p:nvSpPr>
          <p:cNvPr id="31" name="Text 29"/>
          <p:cNvSpPr/>
          <p:nvPr/>
        </p:nvSpPr>
        <p:spPr>
          <a:xfrm>
            <a:off x="5687568" y="3493008"/>
            <a:ext cx="2468880" cy="274320"/>
          </a:xfrm>
          <a:prstGeom prst="rect">
            <a:avLst/>
          </a:prstGeom>
          <a:noFill/>
          <a:ln/>
        </p:spPr>
        <p:txBody>
          <a:bodyPr wrap="square" lIns="0" tIns="0" rIns="0" bIns="0" rtlCol="0" anchor="ctr"/>
          <a:lstStyle/>
          <a:p>
            <a:pPr indent="0" marL="0">
              <a:buNone/>
            </a:pPr>
            <a:r>
              <a:rPr lang="en-US" sz="1350" b="1" dirty="0">
                <a:solidFill>
                  <a:srgbClr val="F8FAFC"/>
                </a:solidFill>
              </a:rPr>
              <a:t>Khó điều phối technician</a:t>
            </a:r>
            <a:endParaRPr lang="en-US" sz="1350" dirty="0"/>
          </a:p>
        </p:txBody>
      </p:sp>
      <p:sp>
        <p:nvSpPr>
          <p:cNvPr id="32" name="Text 30"/>
          <p:cNvSpPr/>
          <p:nvPr/>
        </p:nvSpPr>
        <p:spPr>
          <a:xfrm>
            <a:off x="5687568" y="3840480"/>
            <a:ext cx="2468880" cy="777240"/>
          </a:xfrm>
          <a:prstGeom prst="rect">
            <a:avLst/>
          </a:prstGeom>
          <a:noFill/>
          <a:ln/>
        </p:spPr>
        <p:txBody>
          <a:bodyPr wrap="square" lIns="254" tIns="254" rIns="254" bIns="254" rtlCol="0" anchor="t"/>
          <a:lstStyle/>
          <a:p>
            <a:pPr indent="0" marL="0">
              <a:buNone/>
            </a:pPr>
            <a:r>
              <a:rPr lang="en-US" sz="1000" dirty="0">
                <a:solidFill>
                  <a:srgbClr val="D7E0EF"/>
                </a:solidFill>
              </a:rPr>
              <a:t>Không có Work Order chuẩn, phân công và theo dõi trạng thái công việc.</a:t>
            </a:r>
            <a:endParaRPr lang="en-US" sz="1000" dirty="0"/>
          </a:p>
        </p:txBody>
      </p:sp>
      <p:sp>
        <p:nvSpPr>
          <p:cNvPr id="33" name="Shape 31"/>
          <p:cNvSpPr/>
          <p:nvPr/>
        </p:nvSpPr>
        <p:spPr>
          <a:xfrm>
            <a:off x="8549640" y="3337560"/>
            <a:ext cx="2788920" cy="1417320"/>
          </a:xfrm>
          <a:prstGeom prst="roundRect">
            <a:avLst>
              <a:gd name="adj" fmla="val 5161"/>
            </a:avLst>
          </a:prstGeom>
          <a:solidFill>
            <a:srgbClr val="111B2E"/>
          </a:solidFill>
          <a:ln w="12700">
            <a:solidFill>
              <a:srgbClr val="213553"/>
            </a:solidFill>
            <a:prstDash val="solid"/>
          </a:ln>
        </p:spPr>
      </p:sp>
      <p:sp>
        <p:nvSpPr>
          <p:cNvPr id="34" name="Shape 32"/>
          <p:cNvSpPr/>
          <p:nvPr/>
        </p:nvSpPr>
        <p:spPr>
          <a:xfrm>
            <a:off x="8549640" y="3337560"/>
            <a:ext cx="64008" cy="1417320"/>
          </a:xfrm>
          <a:prstGeom prst="rect">
            <a:avLst/>
          </a:prstGeom>
          <a:solidFill>
            <a:srgbClr val="8B5CF6"/>
          </a:solidFill>
          <a:ln w="12700">
            <a:solidFill>
              <a:srgbClr val="8B5CF6"/>
            </a:solidFill>
            <a:prstDash val="solid"/>
          </a:ln>
        </p:spPr>
      </p:sp>
      <p:sp>
        <p:nvSpPr>
          <p:cNvPr id="35" name="Text 33"/>
          <p:cNvSpPr/>
          <p:nvPr/>
        </p:nvSpPr>
        <p:spPr>
          <a:xfrm>
            <a:off x="8750808" y="3493008"/>
            <a:ext cx="2468880" cy="274320"/>
          </a:xfrm>
          <a:prstGeom prst="rect">
            <a:avLst/>
          </a:prstGeom>
          <a:noFill/>
          <a:ln/>
        </p:spPr>
        <p:txBody>
          <a:bodyPr wrap="square" lIns="0" tIns="0" rIns="0" bIns="0" rtlCol="0" anchor="ctr"/>
          <a:lstStyle/>
          <a:p>
            <a:pPr indent="0" marL="0">
              <a:buNone/>
            </a:pPr>
            <a:r>
              <a:rPr lang="en-US" sz="1350" b="1" dirty="0">
                <a:solidFill>
                  <a:srgbClr val="F8FAFC"/>
                </a:solidFill>
              </a:rPr>
              <a:t>Khó kiểm tra trách nhiệm</a:t>
            </a:r>
            <a:endParaRPr lang="en-US" sz="1350" dirty="0"/>
          </a:p>
        </p:txBody>
      </p:sp>
      <p:sp>
        <p:nvSpPr>
          <p:cNvPr id="36" name="Text 34"/>
          <p:cNvSpPr/>
          <p:nvPr/>
        </p:nvSpPr>
        <p:spPr>
          <a:xfrm>
            <a:off x="8750808" y="3840480"/>
            <a:ext cx="2468880" cy="777240"/>
          </a:xfrm>
          <a:prstGeom prst="rect">
            <a:avLst/>
          </a:prstGeom>
          <a:noFill/>
          <a:ln/>
        </p:spPr>
        <p:txBody>
          <a:bodyPr wrap="square" lIns="254" tIns="254" rIns="254" bIns="254" rtlCol="0" anchor="t"/>
          <a:lstStyle/>
          <a:p>
            <a:pPr indent="0" marL="0">
              <a:buNone/>
            </a:pPr>
            <a:r>
              <a:rPr lang="en-US" sz="1000" dirty="0">
                <a:solidFill>
                  <a:srgbClr val="D7E0EF"/>
                </a:solidFill>
              </a:rPr>
              <a:t>Thiếu lịch sử thao tác, audit và minh chứng trước/sau khi xử lý.</a:t>
            </a:r>
            <a:endParaRPr lang="en-US" sz="1000" dirty="0"/>
          </a:p>
        </p:txBody>
      </p:sp>
      <p:sp>
        <p:nvSpPr>
          <p:cNvPr id="37" name="Shape 35"/>
          <p:cNvSpPr/>
          <p:nvPr/>
        </p:nvSpPr>
        <p:spPr>
          <a:xfrm>
            <a:off x="5486400" y="5166360"/>
            <a:ext cx="5852160" cy="685800"/>
          </a:xfrm>
          <a:prstGeom prst="roundRect">
            <a:avLst>
              <a:gd name="adj" fmla="val 8000"/>
            </a:avLst>
          </a:prstGeom>
          <a:solidFill>
            <a:srgbClr val="0F2940"/>
          </a:solidFill>
          <a:ln w="16510">
            <a:solidFill>
              <a:srgbClr val="22D3EE"/>
            </a:solidFill>
            <a:prstDash val="solid"/>
          </a:ln>
        </p:spPr>
      </p:sp>
      <p:sp>
        <p:nvSpPr>
          <p:cNvPr id="38" name="Text 36"/>
          <p:cNvSpPr/>
          <p:nvPr/>
        </p:nvSpPr>
        <p:spPr>
          <a:xfrm>
            <a:off x="5715000" y="5376672"/>
            <a:ext cx="5394960" cy="228600"/>
          </a:xfrm>
          <a:prstGeom prst="rect">
            <a:avLst/>
          </a:prstGeom>
          <a:noFill/>
          <a:ln/>
        </p:spPr>
        <p:txBody>
          <a:bodyPr wrap="square" lIns="0" tIns="0" rIns="0" bIns="0" rtlCol="0" anchor="ctr"/>
          <a:lstStyle/>
          <a:p>
            <a:pPr algn="ctr" indent="0" marL="0">
              <a:buNone/>
            </a:pPr>
            <a:r>
              <a:rPr lang="en-US" sz="1220" b="1" dirty="0">
                <a:solidFill>
                  <a:srgbClr val="F8FAFC"/>
                </a:solidFill>
              </a:rPr>
              <a:t>→ Cần một nền tảng SaaS quản lý xuyên suốt Asset → Maintenance → Work Order → Technician.</a:t>
            </a:r>
            <a:endParaRPr lang="en-US" sz="1220" dirty="0"/>
          </a:p>
        </p:txBody>
      </p:sp>
      <p:sp>
        <p:nvSpPr>
          <p:cNvPr id="25" name="Slide Number Placeholder 0"/>
          <p:cNvSpPr>
            <a:spLocks noGrp="1"/>
          </p:cNvSpPr>
          <p:nvPr>
            <p:ph type="sldNum" sz="quarter" idx="4294967295"/>
          </p:nvPr>
        </p:nvSpPr>
        <p:spPr>
          <a:xfrm>
            <a:off x="11795760" y="6510528"/>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E8CA8"/>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47472"/>
            <a:ext cx="11064240" cy="457200"/>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2. Mục tiêu &amp; phạm vi đề tài</a:t>
            </a:r>
            <a:endParaRPr lang="en-US" sz="2600" dirty="0"/>
          </a:p>
        </p:txBody>
      </p:sp>
      <p:sp>
        <p:nvSpPr>
          <p:cNvPr id="3" name="Text 1"/>
          <p:cNvSpPr/>
          <p:nvPr/>
        </p:nvSpPr>
        <p:spPr>
          <a:xfrm>
            <a:off x="512064" y="841248"/>
            <a:ext cx="10972800" cy="310896"/>
          </a:xfrm>
          <a:prstGeom prst="rect">
            <a:avLst/>
          </a:prstGeom>
          <a:noFill/>
          <a:ln/>
        </p:spPr>
        <p:txBody>
          <a:bodyPr wrap="square" lIns="0" tIns="0" rIns="0" bIns="0" rtlCol="0" anchor="ctr"/>
          <a:lstStyle/>
          <a:p>
            <a:pPr indent="0" marL="0">
              <a:buNone/>
            </a:pPr>
            <a:r>
              <a:rPr lang="en-US" sz="1150" dirty="0">
                <a:solidFill>
                  <a:srgbClr val="8EA0BD"/>
                </a:solidFill>
                <a:latin typeface="Aptos" pitchFamily="34" charset="0"/>
                <a:ea typeface="Aptos" pitchFamily="34" charset="-122"/>
                <a:cs typeface="Aptos" pitchFamily="34" charset="-120"/>
              </a:rPr>
              <a:t>Tập trung vào nghiệp vụ cốt lõi, đủ để triển khai thực tế trong PBL6.</a:t>
            </a:r>
            <a:endParaRPr lang="en-US" sz="1150" dirty="0"/>
          </a:p>
        </p:txBody>
      </p:sp>
      <p:sp>
        <p:nvSpPr>
          <p:cNvPr id="4" name="Text 2"/>
          <p:cNvSpPr/>
          <p:nvPr/>
        </p:nvSpPr>
        <p:spPr>
          <a:xfrm>
            <a:off x="566928" y="1353312"/>
            <a:ext cx="2377440" cy="320040"/>
          </a:xfrm>
          <a:prstGeom prst="rect">
            <a:avLst/>
          </a:prstGeom>
          <a:noFill/>
          <a:ln/>
        </p:spPr>
        <p:txBody>
          <a:bodyPr wrap="square" lIns="0" tIns="0" rIns="0" bIns="0" rtlCol="0" anchor="ctr"/>
          <a:lstStyle/>
          <a:p>
            <a:pPr indent="0" marL="0">
              <a:buNone/>
            </a:pPr>
            <a:r>
              <a:rPr lang="en-US" sz="1600" b="1" dirty="0">
                <a:solidFill>
                  <a:srgbClr val="22D3EE"/>
                </a:solidFill>
              </a:rPr>
              <a:t>Mục tiêu chính</a:t>
            </a:r>
            <a:endParaRPr lang="en-US" sz="1600" dirty="0"/>
          </a:p>
        </p:txBody>
      </p:sp>
      <p:sp>
        <p:nvSpPr>
          <p:cNvPr id="5" name="Shape 3"/>
          <p:cNvSpPr/>
          <p:nvPr/>
        </p:nvSpPr>
        <p:spPr>
          <a:xfrm>
            <a:off x="566928" y="1783080"/>
            <a:ext cx="2651760" cy="1325880"/>
          </a:xfrm>
          <a:prstGeom prst="roundRect">
            <a:avLst>
              <a:gd name="adj" fmla="val 5517"/>
            </a:avLst>
          </a:prstGeom>
          <a:solidFill>
            <a:srgbClr val="111B2E"/>
          </a:solidFill>
          <a:ln w="12700">
            <a:solidFill>
              <a:srgbClr val="213553"/>
            </a:solidFill>
            <a:prstDash val="solid"/>
          </a:ln>
        </p:spPr>
      </p:sp>
      <p:sp>
        <p:nvSpPr>
          <p:cNvPr id="6" name="Shape 4"/>
          <p:cNvSpPr/>
          <p:nvPr/>
        </p:nvSpPr>
        <p:spPr>
          <a:xfrm>
            <a:off x="566928" y="1783080"/>
            <a:ext cx="64008" cy="1325880"/>
          </a:xfrm>
          <a:prstGeom prst="rect">
            <a:avLst/>
          </a:prstGeom>
          <a:solidFill>
            <a:srgbClr val="22D3EE"/>
          </a:solidFill>
          <a:ln w="12700">
            <a:solidFill>
              <a:srgbClr val="22D3EE"/>
            </a:solidFill>
            <a:prstDash val="solid"/>
          </a:ln>
        </p:spPr>
      </p:sp>
      <p:sp>
        <p:nvSpPr>
          <p:cNvPr id="7" name="Text 5"/>
          <p:cNvSpPr/>
          <p:nvPr/>
        </p:nvSpPr>
        <p:spPr>
          <a:xfrm>
            <a:off x="768096" y="1938528"/>
            <a:ext cx="2331720" cy="274320"/>
          </a:xfrm>
          <a:prstGeom prst="rect">
            <a:avLst/>
          </a:prstGeom>
          <a:noFill/>
          <a:ln/>
        </p:spPr>
        <p:txBody>
          <a:bodyPr wrap="square" lIns="0" tIns="0" rIns="0" bIns="0" rtlCol="0" anchor="ctr"/>
          <a:lstStyle/>
          <a:p>
            <a:pPr indent="0" marL="0">
              <a:buNone/>
            </a:pPr>
            <a:r>
              <a:rPr lang="en-US" sz="1350" b="1" dirty="0">
                <a:solidFill>
                  <a:srgbClr val="F8FAFC"/>
                </a:solidFill>
              </a:rPr>
              <a:t>Multi-Tenant SaaS</a:t>
            </a:r>
            <a:endParaRPr lang="en-US" sz="1350" dirty="0"/>
          </a:p>
        </p:txBody>
      </p:sp>
      <p:sp>
        <p:nvSpPr>
          <p:cNvPr id="8" name="Text 6"/>
          <p:cNvSpPr/>
          <p:nvPr/>
        </p:nvSpPr>
        <p:spPr>
          <a:xfrm>
            <a:off x="768096" y="2286000"/>
            <a:ext cx="2331720" cy="685800"/>
          </a:xfrm>
          <a:prstGeom prst="rect">
            <a:avLst/>
          </a:prstGeom>
          <a:noFill/>
          <a:ln/>
        </p:spPr>
        <p:txBody>
          <a:bodyPr wrap="square" lIns="254" tIns="254" rIns="254" bIns="254" rtlCol="0" anchor="t"/>
          <a:lstStyle/>
          <a:p>
            <a:pPr indent="0" marL="0">
              <a:buNone/>
            </a:pPr>
            <a:r>
              <a:rPr lang="en-US" sz="1000" dirty="0">
                <a:solidFill>
                  <a:srgbClr val="D7E0EF"/>
                </a:solidFill>
              </a:rPr>
              <a:t>Nhiều doanh nghiệp sử dụng chung nền tảng nhưng dữ liệu được cách ly theo tenant.</a:t>
            </a:r>
            <a:endParaRPr lang="en-US" sz="1000" dirty="0"/>
          </a:p>
        </p:txBody>
      </p:sp>
      <p:sp>
        <p:nvSpPr>
          <p:cNvPr id="9" name="Shape 7"/>
          <p:cNvSpPr/>
          <p:nvPr/>
        </p:nvSpPr>
        <p:spPr>
          <a:xfrm>
            <a:off x="3401568" y="1783080"/>
            <a:ext cx="2651760" cy="1325880"/>
          </a:xfrm>
          <a:prstGeom prst="roundRect">
            <a:avLst>
              <a:gd name="adj" fmla="val 5517"/>
            </a:avLst>
          </a:prstGeom>
          <a:solidFill>
            <a:srgbClr val="111B2E"/>
          </a:solidFill>
          <a:ln w="12700">
            <a:solidFill>
              <a:srgbClr val="213553"/>
            </a:solidFill>
            <a:prstDash val="solid"/>
          </a:ln>
        </p:spPr>
      </p:sp>
      <p:sp>
        <p:nvSpPr>
          <p:cNvPr id="10" name="Shape 8"/>
          <p:cNvSpPr/>
          <p:nvPr/>
        </p:nvSpPr>
        <p:spPr>
          <a:xfrm>
            <a:off x="3401568" y="1783080"/>
            <a:ext cx="64008" cy="1325880"/>
          </a:xfrm>
          <a:prstGeom prst="rect">
            <a:avLst/>
          </a:prstGeom>
          <a:solidFill>
            <a:srgbClr val="3B82F6"/>
          </a:solidFill>
          <a:ln w="12700">
            <a:solidFill>
              <a:srgbClr val="3B82F6"/>
            </a:solidFill>
            <a:prstDash val="solid"/>
          </a:ln>
        </p:spPr>
      </p:sp>
      <p:sp>
        <p:nvSpPr>
          <p:cNvPr id="11" name="Text 9"/>
          <p:cNvSpPr/>
          <p:nvPr/>
        </p:nvSpPr>
        <p:spPr>
          <a:xfrm>
            <a:off x="3602736" y="1938528"/>
            <a:ext cx="2331720" cy="274320"/>
          </a:xfrm>
          <a:prstGeom prst="rect">
            <a:avLst/>
          </a:prstGeom>
          <a:noFill/>
          <a:ln/>
        </p:spPr>
        <p:txBody>
          <a:bodyPr wrap="square" lIns="0" tIns="0" rIns="0" bIns="0" rtlCol="0" anchor="ctr"/>
          <a:lstStyle/>
          <a:p>
            <a:pPr indent="0" marL="0">
              <a:buNone/>
            </a:pPr>
            <a:r>
              <a:rPr lang="en-US" sz="1350" b="1" dirty="0">
                <a:solidFill>
                  <a:srgbClr val="F8FAFC"/>
                </a:solidFill>
              </a:rPr>
              <a:t>Quản lý vòng đời tài sản</a:t>
            </a:r>
            <a:endParaRPr lang="en-US" sz="1350" dirty="0"/>
          </a:p>
        </p:txBody>
      </p:sp>
      <p:sp>
        <p:nvSpPr>
          <p:cNvPr id="12" name="Text 10"/>
          <p:cNvSpPr/>
          <p:nvPr/>
        </p:nvSpPr>
        <p:spPr>
          <a:xfrm>
            <a:off x="3602736" y="2286000"/>
            <a:ext cx="2331720" cy="685800"/>
          </a:xfrm>
          <a:prstGeom prst="rect">
            <a:avLst/>
          </a:prstGeom>
          <a:noFill/>
          <a:ln/>
        </p:spPr>
        <p:txBody>
          <a:bodyPr wrap="square" lIns="254" tIns="254" rIns="254" bIns="254" rtlCol="0" anchor="t"/>
          <a:lstStyle/>
          <a:p>
            <a:pPr indent="0" marL="0">
              <a:buNone/>
            </a:pPr>
            <a:r>
              <a:rPr lang="en-US" sz="1000" dirty="0">
                <a:solidFill>
                  <a:srgbClr val="D7E0EF"/>
                </a:solidFill>
              </a:rPr>
              <a:t>Từ tiếp nhận, sử dụng, điều chuyển, bảo trì đến retire/dispose.</a:t>
            </a:r>
            <a:endParaRPr lang="en-US" sz="1000" dirty="0"/>
          </a:p>
        </p:txBody>
      </p:sp>
      <p:sp>
        <p:nvSpPr>
          <p:cNvPr id="13" name="Shape 11"/>
          <p:cNvSpPr/>
          <p:nvPr/>
        </p:nvSpPr>
        <p:spPr>
          <a:xfrm>
            <a:off x="6236208" y="1783080"/>
            <a:ext cx="2651760" cy="1325880"/>
          </a:xfrm>
          <a:prstGeom prst="roundRect">
            <a:avLst>
              <a:gd name="adj" fmla="val 5517"/>
            </a:avLst>
          </a:prstGeom>
          <a:solidFill>
            <a:srgbClr val="111B2E"/>
          </a:solidFill>
          <a:ln w="12700">
            <a:solidFill>
              <a:srgbClr val="213553"/>
            </a:solidFill>
            <a:prstDash val="solid"/>
          </a:ln>
        </p:spPr>
      </p:sp>
      <p:sp>
        <p:nvSpPr>
          <p:cNvPr id="14" name="Shape 12"/>
          <p:cNvSpPr/>
          <p:nvPr/>
        </p:nvSpPr>
        <p:spPr>
          <a:xfrm>
            <a:off x="6236208" y="1783080"/>
            <a:ext cx="64008" cy="1325880"/>
          </a:xfrm>
          <a:prstGeom prst="rect">
            <a:avLst/>
          </a:prstGeom>
          <a:solidFill>
            <a:srgbClr val="10B981"/>
          </a:solidFill>
          <a:ln w="12700">
            <a:solidFill>
              <a:srgbClr val="10B981"/>
            </a:solidFill>
            <a:prstDash val="solid"/>
          </a:ln>
        </p:spPr>
      </p:sp>
      <p:sp>
        <p:nvSpPr>
          <p:cNvPr id="15" name="Text 13"/>
          <p:cNvSpPr/>
          <p:nvPr/>
        </p:nvSpPr>
        <p:spPr>
          <a:xfrm>
            <a:off x="6437376" y="1938528"/>
            <a:ext cx="2331720" cy="274320"/>
          </a:xfrm>
          <a:prstGeom prst="rect">
            <a:avLst/>
          </a:prstGeom>
          <a:noFill/>
          <a:ln/>
        </p:spPr>
        <p:txBody>
          <a:bodyPr wrap="square" lIns="0" tIns="0" rIns="0" bIns="0" rtlCol="0" anchor="ctr"/>
          <a:lstStyle/>
          <a:p>
            <a:pPr indent="0" marL="0">
              <a:buNone/>
            </a:pPr>
            <a:r>
              <a:rPr lang="en-US" sz="1350" b="1" dirty="0">
                <a:solidFill>
                  <a:srgbClr val="F8FAFC"/>
                </a:solidFill>
              </a:rPr>
              <a:t>Chuẩn hóa bảo trì</a:t>
            </a:r>
            <a:endParaRPr lang="en-US" sz="1350" dirty="0"/>
          </a:p>
        </p:txBody>
      </p:sp>
      <p:sp>
        <p:nvSpPr>
          <p:cNvPr id="16" name="Text 14"/>
          <p:cNvSpPr/>
          <p:nvPr/>
        </p:nvSpPr>
        <p:spPr>
          <a:xfrm>
            <a:off x="6437376" y="2286000"/>
            <a:ext cx="2331720" cy="685800"/>
          </a:xfrm>
          <a:prstGeom prst="rect">
            <a:avLst/>
          </a:prstGeom>
          <a:noFill/>
          <a:ln/>
        </p:spPr>
        <p:txBody>
          <a:bodyPr wrap="square" lIns="254" tIns="254" rIns="254" bIns="254" rtlCol="0" anchor="t"/>
          <a:lstStyle/>
          <a:p>
            <a:pPr indent="0" marL="0">
              <a:buNone/>
            </a:pPr>
            <a:r>
              <a:rPr lang="en-US" sz="1000" dirty="0">
                <a:solidFill>
                  <a:srgbClr val="D7E0EF"/>
                </a:solidFill>
              </a:rPr>
              <a:t>Maintenance Plan, lịch định kỳ, checklist và lịch sử thực hiện.</a:t>
            </a:r>
            <a:endParaRPr lang="en-US" sz="1000" dirty="0"/>
          </a:p>
        </p:txBody>
      </p:sp>
      <p:sp>
        <p:nvSpPr>
          <p:cNvPr id="17" name="Shape 15"/>
          <p:cNvSpPr/>
          <p:nvPr/>
        </p:nvSpPr>
        <p:spPr>
          <a:xfrm>
            <a:off x="9070848" y="1783080"/>
            <a:ext cx="2560320" cy="1325880"/>
          </a:xfrm>
          <a:prstGeom prst="roundRect">
            <a:avLst>
              <a:gd name="adj" fmla="val 5517"/>
            </a:avLst>
          </a:prstGeom>
          <a:solidFill>
            <a:srgbClr val="111B2E"/>
          </a:solidFill>
          <a:ln w="12700">
            <a:solidFill>
              <a:srgbClr val="213553"/>
            </a:solidFill>
            <a:prstDash val="solid"/>
          </a:ln>
        </p:spPr>
      </p:sp>
      <p:sp>
        <p:nvSpPr>
          <p:cNvPr id="18" name="Shape 16"/>
          <p:cNvSpPr/>
          <p:nvPr/>
        </p:nvSpPr>
        <p:spPr>
          <a:xfrm>
            <a:off x="9070848" y="1783080"/>
            <a:ext cx="64008" cy="1325880"/>
          </a:xfrm>
          <a:prstGeom prst="rect">
            <a:avLst/>
          </a:prstGeom>
          <a:solidFill>
            <a:srgbClr val="F59E0B"/>
          </a:solidFill>
          <a:ln w="12700">
            <a:solidFill>
              <a:srgbClr val="F59E0B"/>
            </a:solidFill>
            <a:prstDash val="solid"/>
          </a:ln>
        </p:spPr>
      </p:sp>
      <p:sp>
        <p:nvSpPr>
          <p:cNvPr id="19" name="Text 17"/>
          <p:cNvSpPr/>
          <p:nvPr/>
        </p:nvSpPr>
        <p:spPr>
          <a:xfrm>
            <a:off x="9272016" y="1938528"/>
            <a:ext cx="2240280" cy="274320"/>
          </a:xfrm>
          <a:prstGeom prst="rect">
            <a:avLst/>
          </a:prstGeom>
          <a:noFill/>
          <a:ln/>
        </p:spPr>
        <p:txBody>
          <a:bodyPr wrap="square" lIns="0" tIns="0" rIns="0" bIns="0" rtlCol="0" anchor="ctr"/>
          <a:lstStyle/>
          <a:p>
            <a:pPr indent="0" marL="0">
              <a:buNone/>
            </a:pPr>
            <a:r>
              <a:rPr lang="en-US" sz="1350" b="1" dirty="0">
                <a:solidFill>
                  <a:srgbClr val="F8FAFC"/>
                </a:solidFill>
              </a:rPr>
              <a:t>Điều phối hiện trường</a:t>
            </a:r>
            <a:endParaRPr lang="en-US" sz="1350" dirty="0"/>
          </a:p>
        </p:txBody>
      </p:sp>
      <p:sp>
        <p:nvSpPr>
          <p:cNvPr id="20" name="Text 18"/>
          <p:cNvSpPr/>
          <p:nvPr/>
        </p:nvSpPr>
        <p:spPr>
          <a:xfrm>
            <a:off x="9272016" y="2286000"/>
            <a:ext cx="2240280" cy="685800"/>
          </a:xfrm>
          <a:prstGeom prst="rect">
            <a:avLst/>
          </a:prstGeom>
          <a:noFill/>
          <a:ln/>
        </p:spPr>
        <p:txBody>
          <a:bodyPr wrap="square" lIns="254" tIns="254" rIns="254" bIns="254" rtlCol="0" anchor="t"/>
          <a:lstStyle/>
          <a:p>
            <a:pPr indent="0" marL="0">
              <a:buNone/>
            </a:pPr>
            <a:r>
              <a:rPr lang="en-US" sz="1000" dirty="0">
                <a:solidFill>
                  <a:srgbClr val="D7E0EF"/>
                </a:solidFill>
              </a:rPr>
              <a:t>Work Order, phân công technician, mobile, upload ảnh và xác nhận kết quả.</a:t>
            </a:r>
            <a:endParaRPr lang="en-US" sz="1000" dirty="0"/>
          </a:p>
        </p:txBody>
      </p:sp>
      <p:sp>
        <p:nvSpPr>
          <p:cNvPr id="21" name="Text 19"/>
          <p:cNvSpPr/>
          <p:nvPr/>
        </p:nvSpPr>
        <p:spPr>
          <a:xfrm>
            <a:off x="566928" y="3520440"/>
            <a:ext cx="2743200" cy="320040"/>
          </a:xfrm>
          <a:prstGeom prst="rect">
            <a:avLst/>
          </a:prstGeom>
          <a:noFill/>
          <a:ln/>
        </p:spPr>
        <p:txBody>
          <a:bodyPr wrap="square" lIns="0" tIns="0" rIns="0" bIns="0" rtlCol="0" anchor="ctr"/>
          <a:lstStyle/>
          <a:p>
            <a:pPr indent="0" marL="0">
              <a:buNone/>
            </a:pPr>
            <a:r>
              <a:rPr lang="en-US" sz="1600" b="1" dirty="0">
                <a:solidFill>
                  <a:srgbClr val="10B981"/>
                </a:solidFill>
              </a:rPr>
              <a:t>Trong phạm vi PBL6</a:t>
            </a:r>
            <a:endParaRPr lang="en-US" sz="1600" dirty="0"/>
          </a:p>
        </p:txBody>
      </p:sp>
      <p:sp>
        <p:nvSpPr>
          <p:cNvPr id="22" name="Shape 20"/>
          <p:cNvSpPr/>
          <p:nvPr/>
        </p:nvSpPr>
        <p:spPr>
          <a:xfrm>
            <a:off x="685800" y="4032504"/>
            <a:ext cx="164592" cy="164592"/>
          </a:xfrm>
          <a:prstGeom prst="ellipse">
            <a:avLst/>
          </a:prstGeom>
          <a:solidFill>
            <a:srgbClr val="10B981"/>
          </a:solidFill>
          <a:ln w="12700">
            <a:solidFill>
              <a:srgbClr val="10B981"/>
            </a:solidFill>
            <a:prstDash val="solid"/>
          </a:ln>
        </p:spPr>
      </p:sp>
      <p:sp>
        <p:nvSpPr>
          <p:cNvPr id="23" name="Text 21"/>
          <p:cNvSpPr/>
          <p:nvPr/>
        </p:nvSpPr>
        <p:spPr>
          <a:xfrm>
            <a:off x="941832" y="3977640"/>
            <a:ext cx="2606040" cy="274320"/>
          </a:xfrm>
          <a:prstGeom prst="rect">
            <a:avLst/>
          </a:prstGeom>
          <a:noFill/>
          <a:ln/>
        </p:spPr>
        <p:txBody>
          <a:bodyPr wrap="square" lIns="0" tIns="0" rIns="0" bIns="0" rtlCol="0" anchor="ctr"/>
          <a:lstStyle/>
          <a:p>
            <a:pPr indent="0" marL="0">
              <a:buNone/>
            </a:pPr>
            <a:r>
              <a:rPr lang="en-US" sz="1020" dirty="0">
                <a:solidFill>
                  <a:srgbClr val="D7E0EF"/>
                </a:solidFill>
              </a:rPr>
              <a:t>Web Admin + Web End-user</a:t>
            </a:r>
            <a:endParaRPr lang="en-US" sz="1020" dirty="0"/>
          </a:p>
        </p:txBody>
      </p:sp>
      <p:sp>
        <p:nvSpPr>
          <p:cNvPr id="24" name="Shape 22"/>
          <p:cNvSpPr/>
          <p:nvPr/>
        </p:nvSpPr>
        <p:spPr>
          <a:xfrm>
            <a:off x="685800" y="4535424"/>
            <a:ext cx="164592" cy="164592"/>
          </a:xfrm>
          <a:prstGeom prst="ellipse">
            <a:avLst/>
          </a:prstGeom>
          <a:solidFill>
            <a:srgbClr val="10B981"/>
          </a:solidFill>
          <a:ln w="12700">
            <a:solidFill>
              <a:srgbClr val="10B981"/>
            </a:solidFill>
            <a:prstDash val="solid"/>
          </a:ln>
        </p:spPr>
      </p:sp>
      <p:sp>
        <p:nvSpPr>
          <p:cNvPr id="25" name="Text 23"/>
          <p:cNvSpPr/>
          <p:nvPr/>
        </p:nvSpPr>
        <p:spPr>
          <a:xfrm>
            <a:off x="941832" y="4480560"/>
            <a:ext cx="2606040" cy="274320"/>
          </a:xfrm>
          <a:prstGeom prst="rect">
            <a:avLst/>
          </a:prstGeom>
          <a:noFill/>
          <a:ln/>
        </p:spPr>
        <p:txBody>
          <a:bodyPr wrap="square" lIns="0" tIns="0" rIns="0" bIns="0" rtlCol="0" anchor="ctr"/>
          <a:lstStyle/>
          <a:p>
            <a:pPr indent="0" marL="0">
              <a:buNone/>
            </a:pPr>
            <a:r>
              <a:rPr lang="en-US" sz="1020" dirty="0">
                <a:solidFill>
                  <a:srgbClr val="D7E0EF"/>
                </a:solidFill>
              </a:rPr>
              <a:t>Mobile App cho Technician</a:t>
            </a:r>
            <a:endParaRPr lang="en-US" sz="1020" dirty="0"/>
          </a:p>
        </p:txBody>
      </p:sp>
      <p:sp>
        <p:nvSpPr>
          <p:cNvPr id="26" name="Shape 24"/>
          <p:cNvSpPr/>
          <p:nvPr/>
        </p:nvSpPr>
        <p:spPr>
          <a:xfrm>
            <a:off x="685800" y="5038344"/>
            <a:ext cx="164592" cy="164592"/>
          </a:xfrm>
          <a:prstGeom prst="ellipse">
            <a:avLst/>
          </a:prstGeom>
          <a:solidFill>
            <a:srgbClr val="10B981"/>
          </a:solidFill>
          <a:ln w="12700">
            <a:solidFill>
              <a:srgbClr val="10B981"/>
            </a:solidFill>
            <a:prstDash val="solid"/>
          </a:ln>
        </p:spPr>
      </p:sp>
      <p:sp>
        <p:nvSpPr>
          <p:cNvPr id="27" name="Text 25"/>
          <p:cNvSpPr/>
          <p:nvPr/>
        </p:nvSpPr>
        <p:spPr>
          <a:xfrm>
            <a:off x="941832" y="4983480"/>
            <a:ext cx="2606040" cy="274320"/>
          </a:xfrm>
          <a:prstGeom prst="rect">
            <a:avLst/>
          </a:prstGeom>
          <a:noFill/>
          <a:ln/>
        </p:spPr>
        <p:txBody>
          <a:bodyPr wrap="square" lIns="0" tIns="0" rIns="0" bIns="0" rtlCol="0" anchor="ctr"/>
          <a:lstStyle/>
          <a:p>
            <a:pPr indent="0" marL="0">
              <a:buNone/>
            </a:pPr>
            <a:r>
              <a:rPr lang="en-US" sz="1020" dirty="0">
                <a:solidFill>
                  <a:srgbClr val="D7E0EF"/>
                </a:solidFill>
              </a:rPr>
              <a:t>Asset / Vendor / Warranty</a:t>
            </a:r>
            <a:endParaRPr lang="en-US" sz="1020" dirty="0"/>
          </a:p>
        </p:txBody>
      </p:sp>
      <p:sp>
        <p:nvSpPr>
          <p:cNvPr id="28" name="Shape 26"/>
          <p:cNvSpPr/>
          <p:nvPr/>
        </p:nvSpPr>
        <p:spPr>
          <a:xfrm>
            <a:off x="685800" y="5541264"/>
            <a:ext cx="164592" cy="164592"/>
          </a:xfrm>
          <a:prstGeom prst="ellipse">
            <a:avLst/>
          </a:prstGeom>
          <a:solidFill>
            <a:srgbClr val="10B981"/>
          </a:solidFill>
          <a:ln w="12700">
            <a:solidFill>
              <a:srgbClr val="10B981"/>
            </a:solidFill>
            <a:prstDash val="solid"/>
          </a:ln>
        </p:spPr>
      </p:sp>
      <p:sp>
        <p:nvSpPr>
          <p:cNvPr id="29" name="Text 27"/>
          <p:cNvSpPr/>
          <p:nvPr/>
        </p:nvSpPr>
        <p:spPr>
          <a:xfrm>
            <a:off x="941832" y="5486400"/>
            <a:ext cx="2606040" cy="274320"/>
          </a:xfrm>
          <a:prstGeom prst="rect">
            <a:avLst/>
          </a:prstGeom>
          <a:noFill/>
          <a:ln/>
        </p:spPr>
        <p:txBody>
          <a:bodyPr wrap="square" lIns="0" tIns="0" rIns="0" bIns="0" rtlCol="0" anchor="ctr"/>
          <a:lstStyle/>
          <a:p>
            <a:pPr indent="0" marL="0">
              <a:buNone/>
            </a:pPr>
            <a:r>
              <a:rPr lang="en-US" sz="1020" dirty="0">
                <a:solidFill>
                  <a:srgbClr val="D7E0EF"/>
                </a:solidFill>
              </a:rPr>
              <a:t>Maintenance Plan &amp; Schedule</a:t>
            </a:r>
            <a:endParaRPr lang="en-US" sz="1020" dirty="0"/>
          </a:p>
        </p:txBody>
      </p:sp>
      <p:sp>
        <p:nvSpPr>
          <p:cNvPr id="30" name="Shape 28"/>
          <p:cNvSpPr/>
          <p:nvPr/>
        </p:nvSpPr>
        <p:spPr>
          <a:xfrm>
            <a:off x="3794760" y="4032504"/>
            <a:ext cx="164592" cy="164592"/>
          </a:xfrm>
          <a:prstGeom prst="ellipse">
            <a:avLst/>
          </a:prstGeom>
          <a:solidFill>
            <a:srgbClr val="10B981"/>
          </a:solidFill>
          <a:ln w="12700">
            <a:solidFill>
              <a:srgbClr val="10B981"/>
            </a:solidFill>
            <a:prstDash val="solid"/>
          </a:ln>
        </p:spPr>
      </p:sp>
      <p:sp>
        <p:nvSpPr>
          <p:cNvPr id="31" name="Text 29"/>
          <p:cNvSpPr/>
          <p:nvPr/>
        </p:nvSpPr>
        <p:spPr>
          <a:xfrm>
            <a:off x="4050792" y="3977640"/>
            <a:ext cx="2606040" cy="274320"/>
          </a:xfrm>
          <a:prstGeom prst="rect">
            <a:avLst/>
          </a:prstGeom>
          <a:noFill/>
          <a:ln/>
        </p:spPr>
        <p:txBody>
          <a:bodyPr wrap="square" lIns="0" tIns="0" rIns="0" bIns="0" rtlCol="0" anchor="ctr"/>
          <a:lstStyle/>
          <a:p>
            <a:pPr indent="0" marL="0">
              <a:buNone/>
            </a:pPr>
            <a:r>
              <a:rPr lang="en-US" sz="1020" dirty="0">
                <a:solidFill>
                  <a:srgbClr val="D7E0EF"/>
                </a:solidFill>
              </a:rPr>
              <a:t>Work Order &amp; Dispatch</a:t>
            </a:r>
            <a:endParaRPr lang="en-US" sz="1020" dirty="0"/>
          </a:p>
        </p:txBody>
      </p:sp>
      <p:sp>
        <p:nvSpPr>
          <p:cNvPr id="32" name="Shape 30"/>
          <p:cNvSpPr/>
          <p:nvPr/>
        </p:nvSpPr>
        <p:spPr>
          <a:xfrm>
            <a:off x="3794760" y="4535424"/>
            <a:ext cx="164592" cy="164592"/>
          </a:xfrm>
          <a:prstGeom prst="ellipse">
            <a:avLst/>
          </a:prstGeom>
          <a:solidFill>
            <a:srgbClr val="10B981"/>
          </a:solidFill>
          <a:ln w="12700">
            <a:solidFill>
              <a:srgbClr val="10B981"/>
            </a:solidFill>
            <a:prstDash val="solid"/>
          </a:ln>
        </p:spPr>
      </p:sp>
      <p:sp>
        <p:nvSpPr>
          <p:cNvPr id="33" name="Text 31"/>
          <p:cNvSpPr/>
          <p:nvPr/>
        </p:nvSpPr>
        <p:spPr>
          <a:xfrm>
            <a:off x="4050792" y="4480560"/>
            <a:ext cx="2606040" cy="274320"/>
          </a:xfrm>
          <a:prstGeom prst="rect">
            <a:avLst/>
          </a:prstGeom>
          <a:noFill/>
          <a:ln/>
        </p:spPr>
        <p:txBody>
          <a:bodyPr wrap="square" lIns="0" tIns="0" rIns="0" bIns="0" rtlCol="0" anchor="ctr"/>
          <a:lstStyle/>
          <a:p>
            <a:pPr indent="0" marL="0">
              <a:buNone/>
            </a:pPr>
            <a:r>
              <a:rPr lang="en-US" sz="1020" dirty="0">
                <a:solidFill>
                  <a:srgbClr val="D7E0EF"/>
                </a:solidFill>
              </a:rPr>
              <a:t>RBAC + Tenant Isolation</a:t>
            </a:r>
            <a:endParaRPr lang="en-US" sz="1020" dirty="0"/>
          </a:p>
        </p:txBody>
      </p:sp>
      <p:sp>
        <p:nvSpPr>
          <p:cNvPr id="34" name="Shape 32"/>
          <p:cNvSpPr/>
          <p:nvPr/>
        </p:nvSpPr>
        <p:spPr>
          <a:xfrm>
            <a:off x="3794760" y="5038344"/>
            <a:ext cx="164592" cy="164592"/>
          </a:xfrm>
          <a:prstGeom prst="ellipse">
            <a:avLst/>
          </a:prstGeom>
          <a:solidFill>
            <a:srgbClr val="10B981"/>
          </a:solidFill>
          <a:ln w="12700">
            <a:solidFill>
              <a:srgbClr val="10B981"/>
            </a:solidFill>
            <a:prstDash val="solid"/>
          </a:ln>
        </p:spPr>
      </p:sp>
      <p:sp>
        <p:nvSpPr>
          <p:cNvPr id="35" name="Text 33"/>
          <p:cNvSpPr/>
          <p:nvPr/>
        </p:nvSpPr>
        <p:spPr>
          <a:xfrm>
            <a:off x="4050792" y="4983480"/>
            <a:ext cx="2606040" cy="274320"/>
          </a:xfrm>
          <a:prstGeom prst="rect">
            <a:avLst/>
          </a:prstGeom>
          <a:noFill/>
          <a:ln/>
        </p:spPr>
        <p:txBody>
          <a:bodyPr wrap="square" lIns="0" tIns="0" rIns="0" bIns="0" rtlCol="0" anchor="ctr"/>
          <a:lstStyle/>
          <a:p>
            <a:pPr indent="0" marL="0">
              <a:buNone/>
            </a:pPr>
            <a:r>
              <a:rPr lang="en-US" sz="1020" dirty="0">
                <a:solidFill>
                  <a:srgbClr val="D7E0EF"/>
                </a:solidFill>
              </a:rPr>
              <a:t>Dashboard + Audit Log</a:t>
            </a:r>
            <a:endParaRPr lang="en-US" sz="1020" dirty="0"/>
          </a:p>
        </p:txBody>
      </p:sp>
      <p:sp>
        <p:nvSpPr>
          <p:cNvPr id="36" name="Shape 34"/>
          <p:cNvSpPr/>
          <p:nvPr/>
        </p:nvSpPr>
        <p:spPr>
          <a:xfrm>
            <a:off x="3794760" y="5541264"/>
            <a:ext cx="164592" cy="164592"/>
          </a:xfrm>
          <a:prstGeom prst="ellipse">
            <a:avLst/>
          </a:prstGeom>
          <a:solidFill>
            <a:srgbClr val="10B981"/>
          </a:solidFill>
          <a:ln w="12700">
            <a:solidFill>
              <a:srgbClr val="10B981"/>
            </a:solidFill>
            <a:prstDash val="solid"/>
          </a:ln>
        </p:spPr>
      </p:sp>
      <p:sp>
        <p:nvSpPr>
          <p:cNvPr id="37" name="Text 35"/>
          <p:cNvSpPr/>
          <p:nvPr/>
        </p:nvSpPr>
        <p:spPr>
          <a:xfrm>
            <a:off x="4050792" y="5486400"/>
            <a:ext cx="2606040" cy="274320"/>
          </a:xfrm>
          <a:prstGeom prst="rect">
            <a:avLst/>
          </a:prstGeom>
          <a:noFill/>
          <a:ln/>
        </p:spPr>
        <p:txBody>
          <a:bodyPr wrap="square" lIns="0" tIns="0" rIns="0" bIns="0" rtlCol="0" anchor="ctr"/>
          <a:lstStyle/>
          <a:p>
            <a:pPr indent="0" marL="0">
              <a:buNone/>
            </a:pPr>
            <a:r>
              <a:rPr lang="en-US" sz="1020" dirty="0">
                <a:solidFill>
                  <a:srgbClr val="D7E0EF"/>
                </a:solidFill>
              </a:rPr>
              <a:t>Deploy thực tế bằng Docker</a:t>
            </a:r>
            <a:endParaRPr lang="en-US" sz="1020" dirty="0"/>
          </a:p>
        </p:txBody>
      </p:sp>
      <p:sp>
        <p:nvSpPr>
          <p:cNvPr id="38" name="Text 36"/>
          <p:cNvSpPr/>
          <p:nvPr/>
        </p:nvSpPr>
        <p:spPr>
          <a:xfrm>
            <a:off x="6995160" y="3520440"/>
            <a:ext cx="3474720" cy="320040"/>
          </a:xfrm>
          <a:prstGeom prst="rect">
            <a:avLst/>
          </a:prstGeom>
          <a:noFill/>
          <a:ln/>
        </p:spPr>
        <p:txBody>
          <a:bodyPr wrap="square" lIns="0" tIns="0" rIns="0" bIns="0" rtlCol="0" anchor="ctr"/>
          <a:lstStyle/>
          <a:p>
            <a:pPr indent="0" marL="0">
              <a:buNone/>
            </a:pPr>
            <a:r>
              <a:rPr lang="en-US" sz="1600" b="1" dirty="0">
                <a:solidFill>
                  <a:srgbClr val="EF4444"/>
                </a:solidFill>
              </a:rPr>
              <a:t>Ngoài phạm vi phiên bản hiện tại</a:t>
            </a:r>
            <a:endParaRPr lang="en-US" sz="1600" dirty="0"/>
          </a:p>
        </p:txBody>
      </p:sp>
      <p:sp>
        <p:nvSpPr>
          <p:cNvPr id="39" name="Text 37"/>
          <p:cNvSpPr/>
          <p:nvPr/>
        </p:nvSpPr>
        <p:spPr>
          <a:xfrm>
            <a:off x="7132320" y="3959352"/>
            <a:ext cx="228600" cy="256032"/>
          </a:xfrm>
          <a:prstGeom prst="rect">
            <a:avLst/>
          </a:prstGeom>
          <a:noFill/>
          <a:ln/>
        </p:spPr>
        <p:txBody>
          <a:bodyPr wrap="square" lIns="0" tIns="0" rIns="0" bIns="0" rtlCol="0" anchor="ctr"/>
          <a:lstStyle/>
          <a:p>
            <a:pPr indent="0" marL="0">
              <a:buNone/>
            </a:pPr>
            <a:r>
              <a:rPr lang="en-US" sz="1400" b="1" dirty="0">
                <a:solidFill>
                  <a:srgbClr val="EF4444"/>
                </a:solidFill>
              </a:rPr>
              <a:t>×</a:t>
            </a:r>
            <a:endParaRPr lang="en-US" sz="1400" dirty="0"/>
          </a:p>
        </p:txBody>
      </p:sp>
      <p:sp>
        <p:nvSpPr>
          <p:cNvPr id="40" name="Text 38"/>
          <p:cNvSpPr/>
          <p:nvPr/>
        </p:nvSpPr>
        <p:spPr>
          <a:xfrm>
            <a:off x="7406640" y="3977640"/>
            <a:ext cx="2103120" cy="292608"/>
          </a:xfrm>
          <a:prstGeom prst="rect">
            <a:avLst/>
          </a:prstGeom>
          <a:noFill/>
          <a:ln/>
        </p:spPr>
        <p:txBody>
          <a:bodyPr wrap="square" lIns="0" tIns="0" rIns="0" bIns="0" rtlCol="0" anchor="ctr"/>
          <a:lstStyle/>
          <a:p>
            <a:pPr indent="0" marL="0">
              <a:buNone/>
            </a:pPr>
            <a:r>
              <a:rPr lang="en-US" sz="1010" dirty="0">
                <a:solidFill>
                  <a:srgbClr val="D7E0EF"/>
                </a:solidFill>
              </a:rPr>
              <a:t>ERP / kế toán / payroll</a:t>
            </a:r>
            <a:endParaRPr lang="en-US" sz="1010" dirty="0"/>
          </a:p>
        </p:txBody>
      </p:sp>
      <p:sp>
        <p:nvSpPr>
          <p:cNvPr id="41" name="Text 39"/>
          <p:cNvSpPr/>
          <p:nvPr/>
        </p:nvSpPr>
        <p:spPr>
          <a:xfrm>
            <a:off x="7132320" y="4581144"/>
            <a:ext cx="228600" cy="256032"/>
          </a:xfrm>
          <a:prstGeom prst="rect">
            <a:avLst/>
          </a:prstGeom>
          <a:noFill/>
          <a:ln/>
        </p:spPr>
        <p:txBody>
          <a:bodyPr wrap="square" lIns="0" tIns="0" rIns="0" bIns="0" rtlCol="0" anchor="ctr"/>
          <a:lstStyle/>
          <a:p>
            <a:pPr indent="0" marL="0">
              <a:buNone/>
            </a:pPr>
            <a:r>
              <a:rPr lang="en-US" sz="1400" b="1" dirty="0">
                <a:solidFill>
                  <a:srgbClr val="EF4444"/>
                </a:solidFill>
              </a:rPr>
              <a:t>×</a:t>
            </a:r>
            <a:endParaRPr lang="en-US" sz="1400" dirty="0"/>
          </a:p>
        </p:txBody>
      </p:sp>
      <p:sp>
        <p:nvSpPr>
          <p:cNvPr id="42" name="Text 40"/>
          <p:cNvSpPr/>
          <p:nvPr/>
        </p:nvSpPr>
        <p:spPr>
          <a:xfrm>
            <a:off x="7406640" y="4599432"/>
            <a:ext cx="2103120" cy="292608"/>
          </a:xfrm>
          <a:prstGeom prst="rect">
            <a:avLst/>
          </a:prstGeom>
          <a:noFill/>
          <a:ln/>
        </p:spPr>
        <p:txBody>
          <a:bodyPr wrap="square" lIns="0" tIns="0" rIns="0" bIns="0" rtlCol="0" anchor="ctr"/>
          <a:lstStyle/>
          <a:p>
            <a:pPr indent="0" marL="0">
              <a:buNone/>
            </a:pPr>
            <a:r>
              <a:rPr lang="en-US" sz="1010" dirty="0">
                <a:solidFill>
                  <a:srgbClr val="D7E0EF"/>
                </a:solidFill>
              </a:rPr>
              <a:t>AI dự đoán hỏng hóc</a:t>
            </a:r>
            <a:endParaRPr lang="en-US" sz="1010" dirty="0"/>
          </a:p>
        </p:txBody>
      </p:sp>
      <p:sp>
        <p:nvSpPr>
          <p:cNvPr id="43" name="Text 41"/>
          <p:cNvSpPr/>
          <p:nvPr/>
        </p:nvSpPr>
        <p:spPr>
          <a:xfrm>
            <a:off x="7132320" y="5202936"/>
            <a:ext cx="228600" cy="256032"/>
          </a:xfrm>
          <a:prstGeom prst="rect">
            <a:avLst/>
          </a:prstGeom>
          <a:noFill/>
          <a:ln/>
        </p:spPr>
        <p:txBody>
          <a:bodyPr wrap="square" lIns="0" tIns="0" rIns="0" bIns="0" rtlCol="0" anchor="ctr"/>
          <a:lstStyle/>
          <a:p>
            <a:pPr indent="0" marL="0">
              <a:buNone/>
            </a:pPr>
            <a:r>
              <a:rPr lang="en-US" sz="1400" b="1" dirty="0">
                <a:solidFill>
                  <a:srgbClr val="EF4444"/>
                </a:solidFill>
              </a:rPr>
              <a:t>×</a:t>
            </a:r>
            <a:endParaRPr lang="en-US" sz="1400" dirty="0"/>
          </a:p>
        </p:txBody>
      </p:sp>
      <p:sp>
        <p:nvSpPr>
          <p:cNvPr id="44" name="Text 42"/>
          <p:cNvSpPr/>
          <p:nvPr/>
        </p:nvSpPr>
        <p:spPr>
          <a:xfrm>
            <a:off x="7406640" y="5221224"/>
            <a:ext cx="2103120" cy="292608"/>
          </a:xfrm>
          <a:prstGeom prst="rect">
            <a:avLst/>
          </a:prstGeom>
          <a:noFill/>
          <a:ln/>
        </p:spPr>
        <p:txBody>
          <a:bodyPr wrap="square" lIns="0" tIns="0" rIns="0" bIns="0" rtlCol="0" anchor="ctr"/>
          <a:lstStyle/>
          <a:p>
            <a:pPr indent="0" marL="0">
              <a:buNone/>
            </a:pPr>
            <a:r>
              <a:rPr lang="en-US" sz="1010" dirty="0">
                <a:solidFill>
                  <a:srgbClr val="D7E0EF"/>
                </a:solidFill>
              </a:rPr>
              <a:t>IoT realtime monitoring</a:t>
            </a:r>
            <a:endParaRPr lang="en-US" sz="1010" dirty="0"/>
          </a:p>
        </p:txBody>
      </p:sp>
      <p:sp>
        <p:nvSpPr>
          <p:cNvPr id="45" name="Text 43"/>
          <p:cNvSpPr/>
          <p:nvPr/>
        </p:nvSpPr>
        <p:spPr>
          <a:xfrm>
            <a:off x="9509760" y="3959352"/>
            <a:ext cx="228600" cy="256032"/>
          </a:xfrm>
          <a:prstGeom prst="rect">
            <a:avLst/>
          </a:prstGeom>
          <a:noFill/>
          <a:ln/>
        </p:spPr>
        <p:txBody>
          <a:bodyPr wrap="square" lIns="0" tIns="0" rIns="0" bIns="0" rtlCol="0" anchor="ctr"/>
          <a:lstStyle/>
          <a:p>
            <a:pPr indent="0" marL="0">
              <a:buNone/>
            </a:pPr>
            <a:r>
              <a:rPr lang="en-US" sz="1400" b="1" dirty="0">
                <a:solidFill>
                  <a:srgbClr val="EF4444"/>
                </a:solidFill>
              </a:rPr>
              <a:t>×</a:t>
            </a:r>
            <a:endParaRPr lang="en-US" sz="1400" dirty="0"/>
          </a:p>
        </p:txBody>
      </p:sp>
      <p:sp>
        <p:nvSpPr>
          <p:cNvPr id="46" name="Text 44"/>
          <p:cNvSpPr/>
          <p:nvPr/>
        </p:nvSpPr>
        <p:spPr>
          <a:xfrm>
            <a:off x="9784080" y="3977640"/>
            <a:ext cx="2103120" cy="292608"/>
          </a:xfrm>
          <a:prstGeom prst="rect">
            <a:avLst/>
          </a:prstGeom>
          <a:noFill/>
          <a:ln/>
        </p:spPr>
        <p:txBody>
          <a:bodyPr wrap="square" lIns="0" tIns="0" rIns="0" bIns="0" rtlCol="0" anchor="ctr"/>
          <a:lstStyle/>
          <a:p>
            <a:pPr indent="0" marL="0">
              <a:buNone/>
            </a:pPr>
            <a:r>
              <a:rPr lang="en-US" sz="1010" dirty="0">
                <a:solidFill>
                  <a:srgbClr val="D7E0EF"/>
                </a:solidFill>
              </a:rPr>
              <a:t>Marketplace nhiều bên mua-bán</a:t>
            </a:r>
            <a:endParaRPr lang="en-US" sz="1010" dirty="0"/>
          </a:p>
        </p:txBody>
      </p:sp>
      <p:sp>
        <p:nvSpPr>
          <p:cNvPr id="47" name="Text 45"/>
          <p:cNvSpPr/>
          <p:nvPr/>
        </p:nvSpPr>
        <p:spPr>
          <a:xfrm>
            <a:off x="9509760" y="4581144"/>
            <a:ext cx="228600" cy="256032"/>
          </a:xfrm>
          <a:prstGeom prst="rect">
            <a:avLst/>
          </a:prstGeom>
          <a:noFill/>
          <a:ln/>
        </p:spPr>
        <p:txBody>
          <a:bodyPr wrap="square" lIns="0" tIns="0" rIns="0" bIns="0" rtlCol="0" anchor="ctr"/>
          <a:lstStyle/>
          <a:p>
            <a:pPr indent="0" marL="0">
              <a:buNone/>
            </a:pPr>
            <a:r>
              <a:rPr lang="en-US" sz="1400" b="1" dirty="0">
                <a:solidFill>
                  <a:srgbClr val="EF4444"/>
                </a:solidFill>
              </a:rPr>
              <a:t>×</a:t>
            </a:r>
            <a:endParaRPr lang="en-US" sz="1400" dirty="0"/>
          </a:p>
        </p:txBody>
      </p:sp>
      <p:sp>
        <p:nvSpPr>
          <p:cNvPr id="48" name="Text 46"/>
          <p:cNvSpPr/>
          <p:nvPr/>
        </p:nvSpPr>
        <p:spPr>
          <a:xfrm>
            <a:off x="9784080" y="4599432"/>
            <a:ext cx="2103120" cy="292608"/>
          </a:xfrm>
          <a:prstGeom prst="rect">
            <a:avLst/>
          </a:prstGeom>
          <a:noFill/>
          <a:ln/>
        </p:spPr>
        <p:txBody>
          <a:bodyPr wrap="square" lIns="0" tIns="0" rIns="0" bIns="0" rtlCol="0" anchor="ctr"/>
          <a:lstStyle/>
          <a:p>
            <a:pPr indent="0" marL="0">
              <a:buNone/>
            </a:pPr>
            <a:r>
              <a:rPr lang="en-US" sz="1010" dirty="0">
                <a:solidFill>
                  <a:srgbClr val="D7E0EF"/>
                </a:solidFill>
              </a:rPr>
              <a:t>GPS tracking liên tục</a:t>
            </a:r>
            <a:endParaRPr lang="en-US" sz="1010" dirty="0"/>
          </a:p>
        </p:txBody>
      </p:sp>
      <p:sp>
        <p:nvSpPr>
          <p:cNvPr id="49" name="Text 47"/>
          <p:cNvSpPr/>
          <p:nvPr/>
        </p:nvSpPr>
        <p:spPr>
          <a:xfrm>
            <a:off x="9509760" y="5202936"/>
            <a:ext cx="228600" cy="256032"/>
          </a:xfrm>
          <a:prstGeom prst="rect">
            <a:avLst/>
          </a:prstGeom>
          <a:noFill/>
          <a:ln/>
        </p:spPr>
        <p:txBody>
          <a:bodyPr wrap="square" lIns="0" tIns="0" rIns="0" bIns="0" rtlCol="0" anchor="ctr"/>
          <a:lstStyle/>
          <a:p>
            <a:pPr indent="0" marL="0">
              <a:buNone/>
            </a:pPr>
            <a:r>
              <a:rPr lang="en-US" sz="1400" b="1" dirty="0">
                <a:solidFill>
                  <a:srgbClr val="EF4444"/>
                </a:solidFill>
              </a:rPr>
              <a:t>×</a:t>
            </a:r>
            <a:endParaRPr lang="en-US" sz="1400" dirty="0"/>
          </a:p>
        </p:txBody>
      </p:sp>
      <p:sp>
        <p:nvSpPr>
          <p:cNvPr id="50" name="Text 48"/>
          <p:cNvSpPr/>
          <p:nvPr/>
        </p:nvSpPr>
        <p:spPr>
          <a:xfrm>
            <a:off x="9784080" y="5221224"/>
            <a:ext cx="2103120" cy="292608"/>
          </a:xfrm>
          <a:prstGeom prst="rect">
            <a:avLst/>
          </a:prstGeom>
          <a:noFill/>
          <a:ln/>
        </p:spPr>
        <p:txBody>
          <a:bodyPr wrap="square" lIns="0" tIns="0" rIns="0" bIns="0" rtlCol="0" anchor="ctr"/>
          <a:lstStyle/>
          <a:p>
            <a:pPr indent="0" marL="0">
              <a:buNone/>
            </a:pPr>
            <a:r>
              <a:rPr lang="en-US" sz="1010" dirty="0">
                <a:solidFill>
                  <a:srgbClr val="D7E0EF"/>
                </a:solidFill>
              </a:rPr>
              <a:t>Kubernetes / multi-region production</a:t>
            </a:r>
            <a:endParaRPr lang="en-US" sz="1010" dirty="0"/>
          </a:p>
        </p:txBody>
      </p:sp>
      <p:sp>
        <p:nvSpPr>
          <p:cNvPr id="25" name="Slide Number Placeholder 0"/>
          <p:cNvSpPr>
            <a:spLocks noGrp="1"/>
          </p:cNvSpPr>
          <p:nvPr>
            <p:ph type="sldNum" sz="quarter" idx="4294967295"/>
          </p:nvPr>
        </p:nvSpPr>
        <p:spPr>
          <a:xfrm>
            <a:off x="11795760" y="6510528"/>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E8CA8"/>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47472"/>
            <a:ext cx="11064240" cy="457200"/>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3. Đối tượng sử dụng hệ thống</a:t>
            </a:r>
            <a:endParaRPr lang="en-US" sz="2600" dirty="0"/>
          </a:p>
        </p:txBody>
      </p:sp>
      <p:sp>
        <p:nvSpPr>
          <p:cNvPr id="3" name="Text 1"/>
          <p:cNvSpPr/>
          <p:nvPr/>
        </p:nvSpPr>
        <p:spPr>
          <a:xfrm>
            <a:off x="512064" y="841248"/>
            <a:ext cx="10972800" cy="310896"/>
          </a:xfrm>
          <a:prstGeom prst="rect">
            <a:avLst/>
          </a:prstGeom>
          <a:noFill/>
          <a:ln/>
        </p:spPr>
        <p:txBody>
          <a:bodyPr wrap="square" lIns="0" tIns="0" rIns="0" bIns="0" rtlCol="0" anchor="ctr"/>
          <a:lstStyle/>
          <a:p>
            <a:pPr indent="0" marL="0">
              <a:buNone/>
            </a:pPr>
            <a:r>
              <a:rPr lang="en-US" sz="1150" dirty="0">
                <a:solidFill>
                  <a:srgbClr val="8EA0BD"/>
                </a:solidFill>
                <a:latin typeface="Aptos" pitchFamily="34" charset="0"/>
                <a:ea typeface="Aptos" pitchFamily="34" charset="-122"/>
                <a:cs typeface="Aptos" pitchFamily="34" charset="-120"/>
              </a:rPr>
              <a:t>Mỗi actor có vai trò và phạm vi quyền khác nhau trong tenant.</a:t>
            </a:r>
            <a:endParaRPr lang="en-US" sz="1150" dirty="0"/>
          </a:p>
        </p:txBody>
      </p:sp>
      <p:sp>
        <p:nvSpPr>
          <p:cNvPr id="4" name="Shape 2"/>
          <p:cNvSpPr/>
          <p:nvPr/>
        </p:nvSpPr>
        <p:spPr>
          <a:xfrm>
            <a:off x="4709160" y="2194560"/>
            <a:ext cx="2743200" cy="1097280"/>
          </a:xfrm>
          <a:prstGeom prst="roundRect">
            <a:avLst>
              <a:gd name="adj" fmla="val 6667"/>
            </a:avLst>
          </a:prstGeom>
          <a:solidFill>
            <a:srgbClr val="0F2940"/>
          </a:solidFill>
          <a:ln w="21590">
            <a:solidFill>
              <a:srgbClr val="22D3EE"/>
            </a:solidFill>
            <a:prstDash val="solid"/>
          </a:ln>
        </p:spPr>
      </p:sp>
      <p:sp>
        <p:nvSpPr>
          <p:cNvPr id="5" name="Text 3"/>
          <p:cNvSpPr/>
          <p:nvPr/>
        </p:nvSpPr>
        <p:spPr>
          <a:xfrm>
            <a:off x="4892040" y="2450592"/>
            <a:ext cx="2377440" cy="274320"/>
          </a:xfrm>
          <a:prstGeom prst="rect">
            <a:avLst/>
          </a:prstGeom>
          <a:noFill/>
          <a:ln/>
        </p:spPr>
        <p:txBody>
          <a:bodyPr wrap="square" lIns="0" tIns="0" rIns="0" bIns="0" rtlCol="0" anchor="ctr"/>
          <a:lstStyle/>
          <a:p>
            <a:pPr algn="ctr" indent="0" marL="0">
              <a:buNone/>
            </a:pPr>
            <a:r>
              <a:rPr lang="en-US" sz="1600" b="1" dirty="0">
                <a:solidFill>
                  <a:srgbClr val="F8FAFC"/>
                </a:solidFill>
              </a:rPr>
              <a:t>DOANH NGHIỆP / TENANT</a:t>
            </a:r>
            <a:endParaRPr lang="en-US" sz="1600" dirty="0"/>
          </a:p>
        </p:txBody>
      </p:sp>
      <p:sp>
        <p:nvSpPr>
          <p:cNvPr id="6" name="Text 4"/>
          <p:cNvSpPr/>
          <p:nvPr/>
        </p:nvSpPr>
        <p:spPr>
          <a:xfrm>
            <a:off x="4937760" y="2816352"/>
            <a:ext cx="2286000" cy="228600"/>
          </a:xfrm>
          <a:prstGeom prst="rect">
            <a:avLst/>
          </a:prstGeom>
          <a:noFill/>
          <a:ln/>
        </p:spPr>
        <p:txBody>
          <a:bodyPr wrap="square" lIns="0" tIns="0" rIns="0" bIns="0" rtlCol="0" anchor="ctr"/>
          <a:lstStyle/>
          <a:p>
            <a:pPr algn="ctr" indent="0" marL="0">
              <a:buNone/>
            </a:pPr>
            <a:r>
              <a:rPr lang="en-US" sz="950" dirty="0">
                <a:solidFill>
                  <a:srgbClr val="8EA0BD"/>
                </a:solidFill>
              </a:rPr>
              <a:t>Dữ liệu riêng • RBAC • Branch</a:t>
            </a:r>
            <a:endParaRPr lang="en-US" sz="950" dirty="0"/>
          </a:p>
        </p:txBody>
      </p:sp>
      <p:sp>
        <p:nvSpPr>
          <p:cNvPr id="7" name="Shape 5"/>
          <p:cNvSpPr/>
          <p:nvPr/>
        </p:nvSpPr>
        <p:spPr>
          <a:xfrm>
            <a:off x="731520" y="1417320"/>
            <a:ext cx="1965960" cy="786384"/>
          </a:xfrm>
          <a:prstGeom prst="roundRect">
            <a:avLst>
              <a:gd name="adj" fmla="val 6977"/>
            </a:avLst>
          </a:prstGeom>
          <a:solidFill>
            <a:srgbClr val="111B2E"/>
          </a:solidFill>
          <a:ln w="16510">
            <a:solidFill>
              <a:srgbClr val="8B5CF6"/>
            </a:solidFill>
            <a:prstDash val="solid"/>
          </a:ln>
        </p:spPr>
      </p:sp>
      <p:sp>
        <p:nvSpPr>
          <p:cNvPr id="8" name="Text 6"/>
          <p:cNvSpPr/>
          <p:nvPr/>
        </p:nvSpPr>
        <p:spPr>
          <a:xfrm>
            <a:off x="804672" y="1527048"/>
            <a:ext cx="1819656" cy="219456"/>
          </a:xfrm>
          <a:prstGeom prst="rect">
            <a:avLst/>
          </a:prstGeom>
          <a:noFill/>
          <a:ln/>
        </p:spPr>
        <p:txBody>
          <a:bodyPr wrap="square" lIns="0" tIns="0" rIns="0" bIns="0" rtlCol="0" anchor="ctr"/>
          <a:lstStyle/>
          <a:p>
            <a:pPr algn="ctr" indent="0" marL="0">
              <a:buNone/>
            </a:pPr>
            <a:r>
              <a:rPr lang="en-US" sz="1150" b="1" dirty="0">
                <a:solidFill>
                  <a:srgbClr val="F8FAFC"/>
                </a:solidFill>
              </a:rPr>
              <a:t>Platform Admin</a:t>
            </a:r>
            <a:endParaRPr lang="en-US" sz="1150" dirty="0"/>
          </a:p>
        </p:txBody>
      </p:sp>
      <p:sp>
        <p:nvSpPr>
          <p:cNvPr id="9" name="Text 7"/>
          <p:cNvSpPr/>
          <p:nvPr/>
        </p:nvSpPr>
        <p:spPr>
          <a:xfrm>
            <a:off x="804672" y="1810512"/>
            <a:ext cx="1819656" cy="219456"/>
          </a:xfrm>
          <a:prstGeom prst="rect">
            <a:avLst/>
          </a:prstGeom>
          <a:noFill/>
          <a:ln/>
        </p:spPr>
        <p:txBody>
          <a:bodyPr wrap="square" lIns="0" tIns="0" rIns="0" bIns="0" rtlCol="0" anchor="ctr"/>
          <a:lstStyle/>
          <a:p>
            <a:pPr algn="ctr" indent="0" marL="0">
              <a:buNone/>
            </a:pPr>
            <a:r>
              <a:rPr lang="en-US" sz="850" dirty="0">
                <a:solidFill>
                  <a:srgbClr val="8EA0BD"/>
                </a:solidFill>
              </a:rPr>
              <a:t>Quản lý tenant / nền tảng</a:t>
            </a:r>
            <a:endParaRPr lang="en-US" sz="850" dirty="0"/>
          </a:p>
        </p:txBody>
      </p:sp>
      <p:sp>
        <p:nvSpPr>
          <p:cNvPr id="10" name="Shape 8"/>
          <p:cNvSpPr/>
          <p:nvPr/>
        </p:nvSpPr>
        <p:spPr>
          <a:xfrm>
            <a:off x="1714500" y="1810512"/>
            <a:ext cx="4366260" cy="932688"/>
          </a:xfrm>
          <a:prstGeom prst="line">
            <a:avLst/>
          </a:prstGeom>
          <a:noFill/>
          <a:ln w="12700">
            <a:solidFill>
              <a:srgbClr val="8B5CF6"/>
            </a:solidFill>
            <a:prstDash val="solid"/>
            <a:headEnd type="none"/>
            <a:tailEnd type="triangle"/>
          </a:ln>
        </p:spPr>
      </p:sp>
      <p:sp>
        <p:nvSpPr>
          <p:cNvPr id="11" name="Shape 9"/>
          <p:cNvSpPr/>
          <p:nvPr/>
        </p:nvSpPr>
        <p:spPr>
          <a:xfrm>
            <a:off x="731520" y="4297680"/>
            <a:ext cx="1965960" cy="786384"/>
          </a:xfrm>
          <a:prstGeom prst="roundRect">
            <a:avLst>
              <a:gd name="adj" fmla="val 6977"/>
            </a:avLst>
          </a:prstGeom>
          <a:solidFill>
            <a:srgbClr val="111B2E"/>
          </a:solidFill>
          <a:ln w="16510">
            <a:solidFill>
              <a:srgbClr val="22D3EE"/>
            </a:solidFill>
            <a:prstDash val="solid"/>
          </a:ln>
        </p:spPr>
      </p:sp>
      <p:sp>
        <p:nvSpPr>
          <p:cNvPr id="12" name="Text 10"/>
          <p:cNvSpPr/>
          <p:nvPr/>
        </p:nvSpPr>
        <p:spPr>
          <a:xfrm>
            <a:off x="804672" y="4407408"/>
            <a:ext cx="1819656" cy="219456"/>
          </a:xfrm>
          <a:prstGeom prst="rect">
            <a:avLst/>
          </a:prstGeom>
          <a:noFill/>
          <a:ln/>
        </p:spPr>
        <p:txBody>
          <a:bodyPr wrap="square" lIns="0" tIns="0" rIns="0" bIns="0" rtlCol="0" anchor="ctr"/>
          <a:lstStyle/>
          <a:p>
            <a:pPr algn="ctr" indent="0" marL="0">
              <a:buNone/>
            </a:pPr>
            <a:r>
              <a:rPr lang="en-US" sz="1150" b="1" dirty="0">
                <a:solidFill>
                  <a:srgbClr val="F8FAFC"/>
                </a:solidFill>
              </a:rPr>
              <a:t>Company Admin</a:t>
            </a:r>
            <a:endParaRPr lang="en-US" sz="1150" dirty="0"/>
          </a:p>
        </p:txBody>
      </p:sp>
      <p:sp>
        <p:nvSpPr>
          <p:cNvPr id="13" name="Text 11"/>
          <p:cNvSpPr/>
          <p:nvPr/>
        </p:nvSpPr>
        <p:spPr>
          <a:xfrm>
            <a:off x="804672" y="4690872"/>
            <a:ext cx="1819656" cy="219456"/>
          </a:xfrm>
          <a:prstGeom prst="rect">
            <a:avLst/>
          </a:prstGeom>
          <a:noFill/>
          <a:ln/>
        </p:spPr>
        <p:txBody>
          <a:bodyPr wrap="square" lIns="0" tIns="0" rIns="0" bIns="0" rtlCol="0" anchor="ctr"/>
          <a:lstStyle/>
          <a:p>
            <a:pPr algn="ctr" indent="0" marL="0">
              <a:buNone/>
            </a:pPr>
            <a:r>
              <a:rPr lang="en-US" sz="850" dirty="0">
                <a:solidFill>
                  <a:srgbClr val="8EA0BD"/>
                </a:solidFill>
              </a:rPr>
              <a:t>User • Role • Branch</a:t>
            </a:r>
            <a:endParaRPr lang="en-US" sz="850" dirty="0"/>
          </a:p>
        </p:txBody>
      </p:sp>
      <p:sp>
        <p:nvSpPr>
          <p:cNvPr id="14" name="Shape 12"/>
          <p:cNvSpPr/>
          <p:nvPr/>
        </p:nvSpPr>
        <p:spPr>
          <a:xfrm>
            <a:off x="1714500" y="4690872"/>
            <a:ext cx="4366260" cy="-1947672"/>
          </a:xfrm>
          <a:prstGeom prst="line">
            <a:avLst/>
          </a:prstGeom>
          <a:noFill/>
          <a:ln w="12700">
            <a:solidFill>
              <a:srgbClr val="22D3EE"/>
            </a:solidFill>
            <a:prstDash val="solid"/>
            <a:headEnd type="none"/>
            <a:tailEnd type="triangle"/>
          </a:ln>
        </p:spPr>
      </p:sp>
      <p:sp>
        <p:nvSpPr>
          <p:cNvPr id="15" name="Shape 13"/>
          <p:cNvSpPr/>
          <p:nvPr/>
        </p:nvSpPr>
        <p:spPr>
          <a:xfrm>
            <a:off x="2926080" y="4892040"/>
            <a:ext cx="1965960" cy="786384"/>
          </a:xfrm>
          <a:prstGeom prst="roundRect">
            <a:avLst>
              <a:gd name="adj" fmla="val 6977"/>
            </a:avLst>
          </a:prstGeom>
          <a:solidFill>
            <a:srgbClr val="111B2E"/>
          </a:solidFill>
          <a:ln w="16510">
            <a:solidFill>
              <a:srgbClr val="3B82F6"/>
            </a:solidFill>
            <a:prstDash val="solid"/>
          </a:ln>
        </p:spPr>
      </p:sp>
      <p:sp>
        <p:nvSpPr>
          <p:cNvPr id="16" name="Text 14"/>
          <p:cNvSpPr/>
          <p:nvPr/>
        </p:nvSpPr>
        <p:spPr>
          <a:xfrm>
            <a:off x="2999232" y="5001768"/>
            <a:ext cx="1819656" cy="219456"/>
          </a:xfrm>
          <a:prstGeom prst="rect">
            <a:avLst/>
          </a:prstGeom>
          <a:noFill/>
          <a:ln/>
        </p:spPr>
        <p:txBody>
          <a:bodyPr wrap="square" lIns="0" tIns="0" rIns="0" bIns="0" rtlCol="0" anchor="ctr"/>
          <a:lstStyle/>
          <a:p>
            <a:pPr algn="ctr" indent="0" marL="0">
              <a:buNone/>
            </a:pPr>
            <a:r>
              <a:rPr lang="en-US" sz="1150" b="1" dirty="0">
                <a:solidFill>
                  <a:srgbClr val="F8FAFC"/>
                </a:solidFill>
              </a:rPr>
              <a:t>Asset Manager</a:t>
            </a:r>
            <a:endParaRPr lang="en-US" sz="1150" dirty="0"/>
          </a:p>
        </p:txBody>
      </p:sp>
      <p:sp>
        <p:nvSpPr>
          <p:cNvPr id="17" name="Text 15"/>
          <p:cNvSpPr/>
          <p:nvPr/>
        </p:nvSpPr>
        <p:spPr>
          <a:xfrm>
            <a:off x="2999232" y="5285232"/>
            <a:ext cx="1819656" cy="219456"/>
          </a:xfrm>
          <a:prstGeom prst="rect">
            <a:avLst/>
          </a:prstGeom>
          <a:noFill/>
          <a:ln/>
        </p:spPr>
        <p:txBody>
          <a:bodyPr wrap="square" lIns="0" tIns="0" rIns="0" bIns="0" rtlCol="0" anchor="ctr"/>
          <a:lstStyle/>
          <a:p>
            <a:pPr algn="ctr" indent="0" marL="0">
              <a:buNone/>
            </a:pPr>
            <a:r>
              <a:rPr lang="en-US" sz="850" dirty="0">
                <a:solidFill>
                  <a:srgbClr val="8EA0BD"/>
                </a:solidFill>
              </a:rPr>
              <a:t>Asset • Vendor • Warranty</a:t>
            </a:r>
            <a:endParaRPr lang="en-US" sz="850" dirty="0"/>
          </a:p>
        </p:txBody>
      </p:sp>
      <p:sp>
        <p:nvSpPr>
          <p:cNvPr id="18" name="Shape 16"/>
          <p:cNvSpPr/>
          <p:nvPr/>
        </p:nvSpPr>
        <p:spPr>
          <a:xfrm>
            <a:off x="3909060" y="5285232"/>
            <a:ext cx="2171700" cy="-2542032"/>
          </a:xfrm>
          <a:prstGeom prst="line">
            <a:avLst/>
          </a:prstGeom>
          <a:noFill/>
          <a:ln w="12700">
            <a:solidFill>
              <a:srgbClr val="3B82F6"/>
            </a:solidFill>
            <a:prstDash val="solid"/>
            <a:headEnd type="none"/>
            <a:tailEnd type="triangle"/>
          </a:ln>
        </p:spPr>
      </p:sp>
      <p:sp>
        <p:nvSpPr>
          <p:cNvPr id="19" name="Shape 17"/>
          <p:cNvSpPr/>
          <p:nvPr/>
        </p:nvSpPr>
        <p:spPr>
          <a:xfrm>
            <a:off x="7818120" y="4892040"/>
            <a:ext cx="1965960" cy="786384"/>
          </a:xfrm>
          <a:prstGeom prst="roundRect">
            <a:avLst>
              <a:gd name="adj" fmla="val 6977"/>
            </a:avLst>
          </a:prstGeom>
          <a:solidFill>
            <a:srgbClr val="111B2E"/>
          </a:solidFill>
          <a:ln w="16510">
            <a:solidFill>
              <a:srgbClr val="10B981"/>
            </a:solidFill>
            <a:prstDash val="solid"/>
          </a:ln>
        </p:spPr>
      </p:sp>
      <p:sp>
        <p:nvSpPr>
          <p:cNvPr id="20" name="Text 18"/>
          <p:cNvSpPr/>
          <p:nvPr/>
        </p:nvSpPr>
        <p:spPr>
          <a:xfrm>
            <a:off x="7891272" y="5001768"/>
            <a:ext cx="1819656" cy="219456"/>
          </a:xfrm>
          <a:prstGeom prst="rect">
            <a:avLst/>
          </a:prstGeom>
          <a:noFill/>
          <a:ln/>
        </p:spPr>
        <p:txBody>
          <a:bodyPr wrap="square" lIns="0" tIns="0" rIns="0" bIns="0" rtlCol="0" anchor="ctr"/>
          <a:lstStyle/>
          <a:p>
            <a:pPr algn="ctr" indent="0" marL="0">
              <a:buNone/>
            </a:pPr>
            <a:r>
              <a:rPr lang="en-US" sz="1150" b="1" dirty="0">
                <a:solidFill>
                  <a:srgbClr val="F8FAFC"/>
                </a:solidFill>
              </a:rPr>
              <a:t>Maintenance Manager</a:t>
            </a:r>
            <a:endParaRPr lang="en-US" sz="1150" dirty="0"/>
          </a:p>
        </p:txBody>
      </p:sp>
      <p:sp>
        <p:nvSpPr>
          <p:cNvPr id="21" name="Text 19"/>
          <p:cNvSpPr/>
          <p:nvPr/>
        </p:nvSpPr>
        <p:spPr>
          <a:xfrm>
            <a:off x="7891272" y="5285232"/>
            <a:ext cx="1819656" cy="219456"/>
          </a:xfrm>
          <a:prstGeom prst="rect">
            <a:avLst/>
          </a:prstGeom>
          <a:noFill/>
          <a:ln/>
        </p:spPr>
        <p:txBody>
          <a:bodyPr wrap="square" lIns="0" tIns="0" rIns="0" bIns="0" rtlCol="0" anchor="ctr"/>
          <a:lstStyle/>
          <a:p>
            <a:pPr algn="ctr" indent="0" marL="0">
              <a:buNone/>
            </a:pPr>
            <a:r>
              <a:rPr lang="en-US" sz="850" dirty="0">
                <a:solidFill>
                  <a:srgbClr val="8EA0BD"/>
                </a:solidFill>
              </a:rPr>
              <a:t>Plan • WO • Verify</a:t>
            </a:r>
            <a:endParaRPr lang="en-US" sz="850" dirty="0"/>
          </a:p>
        </p:txBody>
      </p:sp>
      <p:sp>
        <p:nvSpPr>
          <p:cNvPr id="22" name="Shape 20"/>
          <p:cNvSpPr/>
          <p:nvPr/>
        </p:nvSpPr>
        <p:spPr>
          <a:xfrm>
            <a:off x="8801100" y="5285232"/>
            <a:ext cx="-2720340" cy="-2542032"/>
          </a:xfrm>
          <a:prstGeom prst="line">
            <a:avLst/>
          </a:prstGeom>
          <a:noFill/>
          <a:ln w="12700">
            <a:solidFill>
              <a:srgbClr val="10B981"/>
            </a:solidFill>
            <a:prstDash val="solid"/>
            <a:headEnd type="none"/>
            <a:tailEnd type="triangle"/>
          </a:ln>
        </p:spPr>
      </p:sp>
      <p:sp>
        <p:nvSpPr>
          <p:cNvPr id="23" name="Shape 21"/>
          <p:cNvSpPr/>
          <p:nvPr/>
        </p:nvSpPr>
        <p:spPr>
          <a:xfrm>
            <a:off x="9646920" y="3703320"/>
            <a:ext cx="1965960" cy="786384"/>
          </a:xfrm>
          <a:prstGeom prst="roundRect">
            <a:avLst>
              <a:gd name="adj" fmla="val 6977"/>
            </a:avLst>
          </a:prstGeom>
          <a:solidFill>
            <a:srgbClr val="111B2E"/>
          </a:solidFill>
          <a:ln w="16510">
            <a:solidFill>
              <a:srgbClr val="F59E0B"/>
            </a:solidFill>
            <a:prstDash val="solid"/>
          </a:ln>
        </p:spPr>
      </p:sp>
      <p:sp>
        <p:nvSpPr>
          <p:cNvPr id="24" name="Text 22"/>
          <p:cNvSpPr/>
          <p:nvPr/>
        </p:nvSpPr>
        <p:spPr>
          <a:xfrm>
            <a:off x="9720072" y="3813048"/>
            <a:ext cx="1819656" cy="219456"/>
          </a:xfrm>
          <a:prstGeom prst="rect">
            <a:avLst/>
          </a:prstGeom>
          <a:noFill/>
          <a:ln/>
        </p:spPr>
        <p:txBody>
          <a:bodyPr wrap="square" lIns="0" tIns="0" rIns="0" bIns="0" rtlCol="0" anchor="ctr"/>
          <a:lstStyle/>
          <a:p>
            <a:pPr algn="ctr" indent="0" marL="0">
              <a:buNone/>
            </a:pPr>
            <a:r>
              <a:rPr lang="en-US" sz="1150" b="1" dirty="0">
                <a:solidFill>
                  <a:srgbClr val="F8FAFC"/>
                </a:solidFill>
              </a:rPr>
              <a:t>Dispatcher</a:t>
            </a:r>
            <a:endParaRPr lang="en-US" sz="1150" dirty="0"/>
          </a:p>
        </p:txBody>
      </p:sp>
      <p:sp>
        <p:nvSpPr>
          <p:cNvPr id="25" name="Text 23"/>
          <p:cNvSpPr/>
          <p:nvPr/>
        </p:nvSpPr>
        <p:spPr>
          <a:xfrm>
            <a:off x="9720072" y="4096512"/>
            <a:ext cx="1819656" cy="219456"/>
          </a:xfrm>
          <a:prstGeom prst="rect">
            <a:avLst/>
          </a:prstGeom>
          <a:noFill/>
          <a:ln/>
        </p:spPr>
        <p:txBody>
          <a:bodyPr wrap="square" lIns="0" tIns="0" rIns="0" bIns="0" rtlCol="0" anchor="ctr"/>
          <a:lstStyle/>
          <a:p>
            <a:pPr algn="ctr" indent="0" marL="0">
              <a:buNone/>
            </a:pPr>
            <a:r>
              <a:rPr lang="en-US" sz="850" dirty="0">
                <a:solidFill>
                  <a:srgbClr val="8EA0BD"/>
                </a:solidFill>
              </a:rPr>
              <a:t>Assign / Reassign technician</a:t>
            </a:r>
            <a:endParaRPr lang="en-US" sz="850" dirty="0"/>
          </a:p>
        </p:txBody>
      </p:sp>
      <p:sp>
        <p:nvSpPr>
          <p:cNvPr id="26" name="Shape 24"/>
          <p:cNvSpPr/>
          <p:nvPr/>
        </p:nvSpPr>
        <p:spPr>
          <a:xfrm>
            <a:off x="10629900" y="4096512"/>
            <a:ext cx="-4549140" cy="-1353312"/>
          </a:xfrm>
          <a:prstGeom prst="line">
            <a:avLst/>
          </a:prstGeom>
          <a:noFill/>
          <a:ln w="12700">
            <a:solidFill>
              <a:srgbClr val="F59E0B"/>
            </a:solidFill>
            <a:prstDash val="solid"/>
            <a:headEnd type="none"/>
            <a:tailEnd type="triangle"/>
          </a:ln>
        </p:spPr>
      </p:sp>
      <p:sp>
        <p:nvSpPr>
          <p:cNvPr id="27" name="Shape 25"/>
          <p:cNvSpPr/>
          <p:nvPr/>
        </p:nvSpPr>
        <p:spPr>
          <a:xfrm>
            <a:off x="9646920" y="1325880"/>
            <a:ext cx="1965960" cy="786384"/>
          </a:xfrm>
          <a:prstGeom prst="roundRect">
            <a:avLst>
              <a:gd name="adj" fmla="val 6977"/>
            </a:avLst>
          </a:prstGeom>
          <a:solidFill>
            <a:srgbClr val="111B2E"/>
          </a:solidFill>
          <a:ln w="16510">
            <a:solidFill>
              <a:srgbClr val="EF4444"/>
            </a:solidFill>
            <a:prstDash val="solid"/>
          </a:ln>
        </p:spPr>
      </p:sp>
      <p:sp>
        <p:nvSpPr>
          <p:cNvPr id="28" name="Text 26"/>
          <p:cNvSpPr/>
          <p:nvPr/>
        </p:nvSpPr>
        <p:spPr>
          <a:xfrm>
            <a:off x="9720072" y="1435608"/>
            <a:ext cx="1819656" cy="219456"/>
          </a:xfrm>
          <a:prstGeom prst="rect">
            <a:avLst/>
          </a:prstGeom>
          <a:noFill/>
          <a:ln/>
        </p:spPr>
        <p:txBody>
          <a:bodyPr wrap="square" lIns="0" tIns="0" rIns="0" bIns="0" rtlCol="0" anchor="ctr"/>
          <a:lstStyle/>
          <a:p>
            <a:pPr algn="ctr" indent="0" marL="0">
              <a:buNone/>
            </a:pPr>
            <a:r>
              <a:rPr lang="en-US" sz="1150" b="1" dirty="0">
                <a:solidFill>
                  <a:srgbClr val="F8FAFC"/>
                </a:solidFill>
              </a:rPr>
              <a:t>Technician</a:t>
            </a:r>
            <a:endParaRPr lang="en-US" sz="1150" dirty="0"/>
          </a:p>
        </p:txBody>
      </p:sp>
      <p:sp>
        <p:nvSpPr>
          <p:cNvPr id="29" name="Text 27"/>
          <p:cNvSpPr/>
          <p:nvPr/>
        </p:nvSpPr>
        <p:spPr>
          <a:xfrm>
            <a:off x="9720072" y="1719072"/>
            <a:ext cx="1819656" cy="219456"/>
          </a:xfrm>
          <a:prstGeom prst="rect">
            <a:avLst/>
          </a:prstGeom>
          <a:noFill/>
          <a:ln/>
        </p:spPr>
        <p:txBody>
          <a:bodyPr wrap="square" lIns="0" tIns="0" rIns="0" bIns="0" rtlCol="0" anchor="ctr"/>
          <a:lstStyle/>
          <a:p>
            <a:pPr algn="ctr" indent="0" marL="0">
              <a:buNone/>
            </a:pPr>
            <a:r>
              <a:rPr lang="en-US" sz="850" dirty="0">
                <a:solidFill>
                  <a:srgbClr val="8EA0BD"/>
                </a:solidFill>
              </a:rPr>
              <a:t>Nhận &amp; xử lý Work Order</a:t>
            </a:r>
            <a:endParaRPr lang="en-US" sz="850" dirty="0"/>
          </a:p>
        </p:txBody>
      </p:sp>
      <p:sp>
        <p:nvSpPr>
          <p:cNvPr id="30" name="Shape 28"/>
          <p:cNvSpPr/>
          <p:nvPr/>
        </p:nvSpPr>
        <p:spPr>
          <a:xfrm>
            <a:off x="10629900" y="1719072"/>
            <a:ext cx="-4549140" cy="1024128"/>
          </a:xfrm>
          <a:prstGeom prst="line">
            <a:avLst/>
          </a:prstGeom>
          <a:noFill/>
          <a:ln w="12700">
            <a:solidFill>
              <a:srgbClr val="EF4444"/>
            </a:solidFill>
            <a:prstDash val="solid"/>
            <a:headEnd type="none"/>
            <a:tailEnd type="triangle"/>
          </a:ln>
        </p:spPr>
      </p:sp>
      <p:sp>
        <p:nvSpPr>
          <p:cNvPr id="31" name="Shape 29"/>
          <p:cNvSpPr/>
          <p:nvPr/>
        </p:nvSpPr>
        <p:spPr>
          <a:xfrm>
            <a:off x="7955280" y="822960"/>
            <a:ext cx="1965960" cy="786384"/>
          </a:xfrm>
          <a:prstGeom prst="roundRect">
            <a:avLst>
              <a:gd name="adj" fmla="val 6977"/>
            </a:avLst>
          </a:prstGeom>
          <a:solidFill>
            <a:srgbClr val="111B2E"/>
          </a:solidFill>
          <a:ln w="16510">
            <a:solidFill>
              <a:srgbClr val="3B82F6"/>
            </a:solidFill>
            <a:prstDash val="solid"/>
          </a:ln>
        </p:spPr>
      </p:sp>
      <p:sp>
        <p:nvSpPr>
          <p:cNvPr id="32" name="Text 30"/>
          <p:cNvSpPr/>
          <p:nvPr/>
        </p:nvSpPr>
        <p:spPr>
          <a:xfrm>
            <a:off x="8028432" y="932688"/>
            <a:ext cx="1819656" cy="219456"/>
          </a:xfrm>
          <a:prstGeom prst="rect">
            <a:avLst/>
          </a:prstGeom>
          <a:noFill/>
          <a:ln/>
        </p:spPr>
        <p:txBody>
          <a:bodyPr wrap="square" lIns="0" tIns="0" rIns="0" bIns="0" rtlCol="0" anchor="ctr"/>
          <a:lstStyle/>
          <a:p>
            <a:pPr algn="ctr" indent="0" marL="0">
              <a:buNone/>
            </a:pPr>
            <a:r>
              <a:rPr lang="en-US" sz="1150" b="1" dirty="0">
                <a:solidFill>
                  <a:srgbClr val="F8FAFC"/>
                </a:solidFill>
              </a:rPr>
              <a:t>Employee</a:t>
            </a:r>
            <a:endParaRPr lang="en-US" sz="1150" dirty="0"/>
          </a:p>
        </p:txBody>
      </p:sp>
      <p:sp>
        <p:nvSpPr>
          <p:cNvPr id="33" name="Text 31"/>
          <p:cNvSpPr/>
          <p:nvPr/>
        </p:nvSpPr>
        <p:spPr>
          <a:xfrm>
            <a:off x="8028432" y="1216152"/>
            <a:ext cx="1819656" cy="219456"/>
          </a:xfrm>
          <a:prstGeom prst="rect">
            <a:avLst/>
          </a:prstGeom>
          <a:noFill/>
          <a:ln/>
        </p:spPr>
        <p:txBody>
          <a:bodyPr wrap="square" lIns="0" tIns="0" rIns="0" bIns="0" rtlCol="0" anchor="ctr"/>
          <a:lstStyle/>
          <a:p>
            <a:pPr algn="ctr" indent="0" marL="0">
              <a:buNone/>
            </a:pPr>
            <a:r>
              <a:rPr lang="en-US" sz="850" dirty="0">
                <a:solidFill>
                  <a:srgbClr val="8EA0BD"/>
                </a:solidFill>
              </a:rPr>
              <a:t>Báo hỏng / theo dõi yêu cầu</a:t>
            </a:r>
            <a:endParaRPr lang="en-US" sz="850" dirty="0"/>
          </a:p>
        </p:txBody>
      </p:sp>
      <p:sp>
        <p:nvSpPr>
          <p:cNvPr id="34" name="Shape 32"/>
          <p:cNvSpPr/>
          <p:nvPr/>
        </p:nvSpPr>
        <p:spPr>
          <a:xfrm>
            <a:off x="8938260" y="1216152"/>
            <a:ext cx="-2857500" cy="1527048"/>
          </a:xfrm>
          <a:prstGeom prst="line">
            <a:avLst/>
          </a:prstGeom>
          <a:noFill/>
          <a:ln w="12700">
            <a:solidFill>
              <a:srgbClr val="3B82F6"/>
            </a:solidFill>
            <a:prstDash val="solid"/>
            <a:headEnd type="none"/>
            <a:tailEnd type="triangle"/>
          </a:ln>
        </p:spPr>
      </p:sp>
      <p:sp>
        <p:nvSpPr>
          <p:cNvPr id="35" name="Shape 33"/>
          <p:cNvSpPr/>
          <p:nvPr/>
        </p:nvSpPr>
        <p:spPr>
          <a:xfrm>
            <a:off x="2926080" y="822960"/>
            <a:ext cx="1965960" cy="786384"/>
          </a:xfrm>
          <a:prstGeom prst="roundRect">
            <a:avLst>
              <a:gd name="adj" fmla="val 6977"/>
            </a:avLst>
          </a:prstGeom>
          <a:solidFill>
            <a:srgbClr val="111B2E"/>
          </a:solidFill>
          <a:ln w="16510">
            <a:solidFill>
              <a:srgbClr val="8B5CF6"/>
            </a:solidFill>
            <a:prstDash val="solid"/>
          </a:ln>
        </p:spPr>
      </p:sp>
      <p:sp>
        <p:nvSpPr>
          <p:cNvPr id="36" name="Text 34"/>
          <p:cNvSpPr/>
          <p:nvPr/>
        </p:nvSpPr>
        <p:spPr>
          <a:xfrm>
            <a:off x="2999232" y="932688"/>
            <a:ext cx="1819656" cy="219456"/>
          </a:xfrm>
          <a:prstGeom prst="rect">
            <a:avLst/>
          </a:prstGeom>
          <a:noFill/>
          <a:ln/>
        </p:spPr>
        <p:txBody>
          <a:bodyPr wrap="square" lIns="0" tIns="0" rIns="0" bIns="0" rtlCol="0" anchor="ctr"/>
          <a:lstStyle/>
          <a:p>
            <a:pPr algn="ctr" indent="0" marL="0">
              <a:buNone/>
            </a:pPr>
            <a:r>
              <a:rPr lang="en-US" sz="1150" b="1" dirty="0">
                <a:solidFill>
                  <a:srgbClr val="F8FAFC"/>
                </a:solidFill>
              </a:rPr>
              <a:t>External Technician</a:t>
            </a:r>
            <a:endParaRPr lang="en-US" sz="1150" dirty="0"/>
          </a:p>
        </p:txBody>
      </p:sp>
      <p:sp>
        <p:nvSpPr>
          <p:cNvPr id="37" name="Text 35"/>
          <p:cNvSpPr/>
          <p:nvPr/>
        </p:nvSpPr>
        <p:spPr>
          <a:xfrm>
            <a:off x="2999232" y="1216152"/>
            <a:ext cx="1819656" cy="219456"/>
          </a:xfrm>
          <a:prstGeom prst="rect">
            <a:avLst/>
          </a:prstGeom>
          <a:noFill/>
          <a:ln/>
        </p:spPr>
        <p:txBody>
          <a:bodyPr wrap="square" lIns="0" tIns="0" rIns="0" bIns="0" rtlCol="0" anchor="ctr"/>
          <a:lstStyle/>
          <a:p>
            <a:pPr algn="ctr" indent="0" marL="0">
              <a:buNone/>
            </a:pPr>
            <a:r>
              <a:rPr lang="en-US" sz="850" dirty="0">
                <a:solidFill>
                  <a:srgbClr val="8EA0BD"/>
                </a:solidFill>
              </a:rPr>
              <a:t>Work Order giới hạn</a:t>
            </a:r>
            <a:endParaRPr lang="en-US" sz="850" dirty="0"/>
          </a:p>
        </p:txBody>
      </p:sp>
      <p:sp>
        <p:nvSpPr>
          <p:cNvPr id="38" name="Shape 36"/>
          <p:cNvSpPr/>
          <p:nvPr/>
        </p:nvSpPr>
        <p:spPr>
          <a:xfrm>
            <a:off x="3909060" y="1216152"/>
            <a:ext cx="2171700" cy="1527048"/>
          </a:xfrm>
          <a:prstGeom prst="line">
            <a:avLst/>
          </a:prstGeom>
          <a:noFill/>
          <a:ln w="12700">
            <a:solidFill>
              <a:srgbClr val="8B5CF6"/>
            </a:solidFill>
            <a:prstDash val="solid"/>
            <a:headEnd type="none"/>
            <a:tailEnd type="triangle"/>
          </a:ln>
        </p:spPr>
      </p:sp>
      <p:sp>
        <p:nvSpPr>
          <p:cNvPr id="39" name="Text 37"/>
          <p:cNvSpPr/>
          <p:nvPr/>
        </p:nvSpPr>
        <p:spPr>
          <a:xfrm>
            <a:off x="1828800" y="5943600"/>
            <a:ext cx="8595360" cy="347472"/>
          </a:xfrm>
          <a:prstGeom prst="rect">
            <a:avLst/>
          </a:prstGeom>
          <a:noFill/>
          <a:ln/>
        </p:spPr>
        <p:txBody>
          <a:bodyPr wrap="square" lIns="0" tIns="0" rIns="0" bIns="0" rtlCol="0" anchor="ctr"/>
          <a:lstStyle/>
          <a:p>
            <a:pPr algn="ctr" indent="0" marL="0">
              <a:buNone/>
            </a:pPr>
            <a:r>
              <a:rPr lang="en-US" sz="1220" b="1" dirty="0">
                <a:solidFill>
                  <a:srgbClr val="22D3EE"/>
                </a:solidFill>
              </a:rPr>
              <a:t>Nguyên tắc cốt lõi: User của Tenant A không được phép truy cập dữ liệu của Tenant B.</a:t>
            </a:r>
            <a:endParaRPr lang="en-US" sz="1220" dirty="0"/>
          </a:p>
        </p:txBody>
      </p:sp>
      <p:sp>
        <p:nvSpPr>
          <p:cNvPr id="25" name="Slide Number Placeholder 0"/>
          <p:cNvSpPr>
            <a:spLocks noGrp="1"/>
          </p:cNvSpPr>
          <p:nvPr>
            <p:ph type="sldNum" sz="quarter" idx="4294967295"/>
          </p:nvPr>
        </p:nvSpPr>
        <p:spPr>
          <a:xfrm>
            <a:off x="11795760" y="6510528"/>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E8CA8"/>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47472"/>
            <a:ext cx="11064240" cy="457200"/>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4. Nhóm tính năng chính</a:t>
            </a:r>
            <a:endParaRPr lang="en-US" sz="2600" dirty="0"/>
          </a:p>
        </p:txBody>
      </p:sp>
      <p:sp>
        <p:nvSpPr>
          <p:cNvPr id="3" name="Text 1"/>
          <p:cNvSpPr/>
          <p:nvPr/>
        </p:nvSpPr>
        <p:spPr>
          <a:xfrm>
            <a:off x="512064" y="841248"/>
            <a:ext cx="10972800" cy="310896"/>
          </a:xfrm>
          <a:prstGeom prst="rect">
            <a:avLst/>
          </a:prstGeom>
          <a:noFill/>
          <a:ln/>
        </p:spPr>
        <p:txBody>
          <a:bodyPr wrap="square" lIns="0" tIns="0" rIns="0" bIns="0" rtlCol="0" anchor="ctr"/>
          <a:lstStyle/>
          <a:p>
            <a:pPr indent="0" marL="0">
              <a:buNone/>
            </a:pPr>
            <a:r>
              <a:rPr lang="en-US" sz="1150" dirty="0">
                <a:solidFill>
                  <a:srgbClr val="8EA0BD"/>
                </a:solidFill>
                <a:latin typeface="Aptos" pitchFamily="34" charset="0"/>
                <a:ea typeface="Aptos" pitchFamily="34" charset="-122"/>
                <a:cs typeface="Aptos" pitchFamily="34" charset="-120"/>
              </a:rPr>
              <a:t>Chia theo các domain nghiệp vụ để dễ phát triển và mở rộng.</a:t>
            </a:r>
            <a:endParaRPr lang="en-US" sz="1150" dirty="0"/>
          </a:p>
        </p:txBody>
      </p:sp>
      <p:sp>
        <p:nvSpPr>
          <p:cNvPr id="4" name="Shape 2"/>
          <p:cNvSpPr/>
          <p:nvPr/>
        </p:nvSpPr>
        <p:spPr>
          <a:xfrm>
            <a:off x="566928" y="1463040"/>
            <a:ext cx="2606040" cy="1645920"/>
          </a:xfrm>
          <a:prstGeom prst="roundRect">
            <a:avLst>
              <a:gd name="adj" fmla="val 4444"/>
            </a:avLst>
          </a:prstGeom>
          <a:solidFill>
            <a:srgbClr val="111B2E"/>
          </a:solidFill>
          <a:ln w="12700">
            <a:solidFill>
              <a:srgbClr val="213553"/>
            </a:solidFill>
            <a:prstDash val="solid"/>
          </a:ln>
        </p:spPr>
      </p:sp>
      <p:sp>
        <p:nvSpPr>
          <p:cNvPr id="5" name="Shape 3"/>
          <p:cNvSpPr/>
          <p:nvPr/>
        </p:nvSpPr>
        <p:spPr>
          <a:xfrm>
            <a:off x="566928" y="1463040"/>
            <a:ext cx="64008" cy="1645920"/>
          </a:xfrm>
          <a:prstGeom prst="rect">
            <a:avLst/>
          </a:prstGeom>
          <a:solidFill>
            <a:srgbClr val="22D3EE"/>
          </a:solidFill>
          <a:ln w="12700">
            <a:solidFill>
              <a:srgbClr val="22D3EE"/>
            </a:solidFill>
            <a:prstDash val="solid"/>
          </a:ln>
        </p:spPr>
      </p:sp>
      <p:sp>
        <p:nvSpPr>
          <p:cNvPr id="6" name="Text 4"/>
          <p:cNvSpPr/>
          <p:nvPr/>
        </p:nvSpPr>
        <p:spPr>
          <a:xfrm>
            <a:off x="768096" y="1618488"/>
            <a:ext cx="2286000" cy="274320"/>
          </a:xfrm>
          <a:prstGeom prst="rect">
            <a:avLst/>
          </a:prstGeom>
          <a:noFill/>
          <a:ln/>
        </p:spPr>
        <p:txBody>
          <a:bodyPr wrap="square" lIns="0" tIns="0" rIns="0" bIns="0" rtlCol="0" anchor="ctr"/>
          <a:lstStyle/>
          <a:p>
            <a:pPr indent="0" marL="0">
              <a:buNone/>
            </a:pPr>
            <a:r>
              <a:rPr lang="en-US" sz="1320" b="1" dirty="0">
                <a:solidFill>
                  <a:srgbClr val="F8FAFC"/>
                </a:solidFill>
              </a:rPr>
              <a:t>Authentication &amp; RBAC</a:t>
            </a:r>
            <a:endParaRPr lang="en-US" sz="1320" dirty="0"/>
          </a:p>
        </p:txBody>
      </p:sp>
      <p:sp>
        <p:nvSpPr>
          <p:cNvPr id="7" name="Text 5"/>
          <p:cNvSpPr/>
          <p:nvPr/>
        </p:nvSpPr>
        <p:spPr>
          <a:xfrm>
            <a:off x="768096" y="1965960"/>
            <a:ext cx="2286000" cy="1005840"/>
          </a:xfrm>
          <a:prstGeom prst="rect">
            <a:avLst/>
          </a:prstGeom>
          <a:noFill/>
          <a:ln/>
        </p:spPr>
        <p:txBody>
          <a:bodyPr wrap="square" lIns="254" tIns="254" rIns="254" bIns="254" rtlCol="0" anchor="t"/>
          <a:lstStyle/>
          <a:p>
            <a:pPr indent="0" marL="0">
              <a:buNone/>
            </a:pPr>
            <a:r>
              <a:rPr lang="en-US" sz="1000" dirty="0">
                <a:solidFill>
                  <a:srgbClr val="D7E0EF"/>
                </a:solidFill>
              </a:rPr>
              <a:t>Đăng nhập, role, permission, khóa tài khoản.</a:t>
            </a:r>
            <a:endParaRPr lang="en-US" sz="1000" dirty="0"/>
          </a:p>
        </p:txBody>
      </p:sp>
      <p:sp>
        <p:nvSpPr>
          <p:cNvPr id="8" name="Shape 6"/>
          <p:cNvSpPr/>
          <p:nvPr/>
        </p:nvSpPr>
        <p:spPr>
          <a:xfrm>
            <a:off x="3419856" y="1463040"/>
            <a:ext cx="2606040" cy="1645920"/>
          </a:xfrm>
          <a:prstGeom prst="roundRect">
            <a:avLst>
              <a:gd name="adj" fmla="val 4444"/>
            </a:avLst>
          </a:prstGeom>
          <a:solidFill>
            <a:srgbClr val="111B2E"/>
          </a:solidFill>
          <a:ln w="12700">
            <a:solidFill>
              <a:srgbClr val="213553"/>
            </a:solidFill>
            <a:prstDash val="solid"/>
          </a:ln>
        </p:spPr>
      </p:sp>
      <p:sp>
        <p:nvSpPr>
          <p:cNvPr id="9" name="Shape 7"/>
          <p:cNvSpPr/>
          <p:nvPr/>
        </p:nvSpPr>
        <p:spPr>
          <a:xfrm>
            <a:off x="3419856" y="1463040"/>
            <a:ext cx="64008" cy="1645920"/>
          </a:xfrm>
          <a:prstGeom prst="rect">
            <a:avLst/>
          </a:prstGeom>
          <a:solidFill>
            <a:srgbClr val="8B5CF6"/>
          </a:solidFill>
          <a:ln w="12700">
            <a:solidFill>
              <a:srgbClr val="8B5CF6"/>
            </a:solidFill>
            <a:prstDash val="solid"/>
          </a:ln>
        </p:spPr>
      </p:sp>
      <p:sp>
        <p:nvSpPr>
          <p:cNvPr id="10" name="Text 8"/>
          <p:cNvSpPr/>
          <p:nvPr/>
        </p:nvSpPr>
        <p:spPr>
          <a:xfrm>
            <a:off x="3621024" y="1618488"/>
            <a:ext cx="2286000" cy="274320"/>
          </a:xfrm>
          <a:prstGeom prst="rect">
            <a:avLst/>
          </a:prstGeom>
          <a:noFill/>
          <a:ln/>
        </p:spPr>
        <p:txBody>
          <a:bodyPr wrap="square" lIns="0" tIns="0" rIns="0" bIns="0" rtlCol="0" anchor="ctr"/>
          <a:lstStyle/>
          <a:p>
            <a:pPr indent="0" marL="0">
              <a:buNone/>
            </a:pPr>
            <a:r>
              <a:rPr lang="en-US" sz="1320" b="1" dirty="0">
                <a:solidFill>
                  <a:srgbClr val="F8FAFC"/>
                </a:solidFill>
              </a:rPr>
              <a:t>Tenant / Organization</a:t>
            </a:r>
            <a:endParaRPr lang="en-US" sz="1320" dirty="0"/>
          </a:p>
        </p:txBody>
      </p:sp>
      <p:sp>
        <p:nvSpPr>
          <p:cNvPr id="11" name="Text 9"/>
          <p:cNvSpPr/>
          <p:nvPr/>
        </p:nvSpPr>
        <p:spPr>
          <a:xfrm>
            <a:off x="3621024" y="1965960"/>
            <a:ext cx="2286000" cy="1005840"/>
          </a:xfrm>
          <a:prstGeom prst="rect">
            <a:avLst/>
          </a:prstGeom>
          <a:noFill/>
          <a:ln/>
        </p:spPr>
        <p:txBody>
          <a:bodyPr wrap="square" lIns="254" tIns="254" rIns="254" bIns="254" rtlCol="0" anchor="t"/>
          <a:lstStyle/>
          <a:p>
            <a:pPr indent="0" marL="0">
              <a:buNone/>
            </a:pPr>
            <a:r>
              <a:rPr lang="en-US" sz="1000" dirty="0">
                <a:solidFill>
                  <a:srgbClr val="D7E0EF"/>
                </a:solidFill>
              </a:rPr>
              <a:t>Tenant, branch, location và user theo doanh nghiệp.</a:t>
            </a:r>
            <a:endParaRPr lang="en-US" sz="1000" dirty="0"/>
          </a:p>
        </p:txBody>
      </p:sp>
      <p:sp>
        <p:nvSpPr>
          <p:cNvPr id="12" name="Shape 10"/>
          <p:cNvSpPr/>
          <p:nvPr/>
        </p:nvSpPr>
        <p:spPr>
          <a:xfrm>
            <a:off x="6272784" y="1463040"/>
            <a:ext cx="2606040" cy="1645920"/>
          </a:xfrm>
          <a:prstGeom prst="roundRect">
            <a:avLst>
              <a:gd name="adj" fmla="val 4444"/>
            </a:avLst>
          </a:prstGeom>
          <a:solidFill>
            <a:srgbClr val="111B2E"/>
          </a:solidFill>
          <a:ln w="12700">
            <a:solidFill>
              <a:srgbClr val="213553"/>
            </a:solidFill>
            <a:prstDash val="solid"/>
          </a:ln>
        </p:spPr>
      </p:sp>
      <p:sp>
        <p:nvSpPr>
          <p:cNvPr id="13" name="Shape 11"/>
          <p:cNvSpPr/>
          <p:nvPr/>
        </p:nvSpPr>
        <p:spPr>
          <a:xfrm>
            <a:off x="6272784" y="1463040"/>
            <a:ext cx="64008" cy="1645920"/>
          </a:xfrm>
          <a:prstGeom prst="rect">
            <a:avLst/>
          </a:prstGeom>
          <a:solidFill>
            <a:srgbClr val="3B82F6"/>
          </a:solidFill>
          <a:ln w="12700">
            <a:solidFill>
              <a:srgbClr val="3B82F6"/>
            </a:solidFill>
            <a:prstDash val="solid"/>
          </a:ln>
        </p:spPr>
      </p:sp>
      <p:sp>
        <p:nvSpPr>
          <p:cNvPr id="14" name="Text 12"/>
          <p:cNvSpPr/>
          <p:nvPr/>
        </p:nvSpPr>
        <p:spPr>
          <a:xfrm>
            <a:off x="6473952" y="1618488"/>
            <a:ext cx="2286000" cy="274320"/>
          </a:xfrm>
          <a:prstGeom prst="rect">
            <a:avLst/>
          </a:prstGeom>
          <a:noFill/>
          <a:ln/>
        </p:spPr>
        <p:txBody>
          <a:bodyPr wrap="square" lIns="0" tIns="0" rIns="0" bIns="0" rtlCol="0" anchor="ctr"/>
          <a:lstStyle/>
          <a:p>
            <a:pPr indent="0" marL="0">
              <a:buNone/>
            </a:pPr>
            <a:r>
              <a:rPr lang="en-US" sz="1320" b="1" dirty="0">
                <a:solidFill>
                  <a:srgbClr val="F8FAFC"/>
                </a:solidFill>
              </a:rPr>
              <a:t>Asset Management</a:t>
            </a:r>
            <a:endParaRPr lang="en-US" sz="1320" dirty="0"/>
          </a:p>
        </p:txBody>
      </p:sp>
      <p:sp>
        <p:nvSpPr>
          <p:cNvPr id="15" name="Text 13"/>
          <p:cNvSpPr/>
          <p:nvPr/>
        </p:nvSpPr>
        <p:spPr>
          <a:xfrm>
            <a:off x="6473952" y="1965960"/>
            <a:ext cx="2286000" cy="1005840"/>
          </a:xfrm>
          <a:prstGeom prst="rect">
            <a:avLst/>
          </a:prstGeom>
          <a:noFill/>
          <a:ln/>
        </p:spPr>
        <p:txBody>
          <a:bodyPr wrap="square" lIns="254" tIns="254" rIns="254" bIns="254" rtlCol="0" anchor="t"/>
          <a:lstStyle/>
          <a:p>
            <a:pPr indent="0" marL="0">
              <a:buNone/>
            </a:pPr>
            <a:r>
              <a:rPr lang="en-US" sz="1000" dirty="0">
                <a:solidFill>
                  <a:srgbClr val="D7E0EF"/>
                </a:solidFill>
              </a:rPr>
              <a:t>Asset, category, status, transfer, history, QR.</a:t>
            </a:r>
            <a:endParaRPr lang="en-US" sz="1000" dirty="0"/>
          </a:p>
        </p:txBody>
      </p:sp>
      <p:sp>
        <p:nvSpPr>
          <p:cNvPr id="16" name="Shape 14"/>
          <p:cNvSpPr/>
          <p:nvPr/>
        </p:nvSpPr>
        <p:spPr>
          <a:xfrm>
            <a:off x="9125712" y="1463040"/>
            <a:ext cx="2606040" cy="1645920"/>
          </a:xfrm>
          <a:prstGeom prst="roundRect">
            <a:avLst>
              <a:gd name="adj" fmla="val 4444"/>
            </a:avLst>
          </a:prstGeom>
          <a:solidFill>
            <a:srgbClr val="111B2E"/>
          </a:solidFill>
          <a:ln w="12700">
            <a:solidFill>
              <a:srgbClr val="213553"/>
            </a:solidFill>
            <a:prstDash val="solid"/>
          </a:ln>
        </p:spPr>
      </p:sp>
      <p:sp>
        <p:nvSpPr>
          <p:cNvPr id="17" name="Shape 15"/>
          <p:cNvSpPr/>
          <p:nvPr/>
        </p:nvSpPr>
        <p:spPr>
          <a:xfrm>
            <a:off x="9125712" y="1463040"/>
            <a:ext cx="64008" cy="1645920"/>
          </a:xfrm>
          <a:prstGeom prst="rect">
            <a:avLst/>
          </a:prstGeom>
          <a:solidFill>
            <a:srgbClr val="F59E0B"/>
          </a:solidFill>
          <a:ln w="12700">
            <a:solidFill>
              <a:srgbClr val="F59E0B"/>
            </a:solidFill>
            <a:prstDash val="solid"/>
          </a:ln>
        </p:spPr>
      </p:sp>
      <p:sp>
        <p:nvSpPr>
          <p:cNvPr id="18" name="Text 16"/>
          <p:cNvSpPr/>
          <p:nvPr/>
        </p:nvSpPr>
        <p:spPr>
          <a:xfrm>
            <a:off x="9326880" y="1618488"/>
            <a:ext cx="2286000" cy="274320"/>
          </a:xfrm>
          <a:prstGeom prst="rect">
            <a:avLst/>
          </a:prstGeom>
          <a:noFill/>
          <a:ln/>
        </p:spPr>
        <p:txBody>
          <a:bodyPr wrap="square" lIns="0" tIns="0" rIns="0" bIns="0" rtlCol="0" anchor="ctr"/>
          <a:lstStyle/>
          <a:p>
            <a:pPr indent="0" marL="0">
              <a:buNone/>
            </a:pPr>
            <a:r>
              <a:rPr lang="en-US" sz="1320" b="1" dirty="0">
                <a:solidFill>
                  <a:srgbClr val="F8FAFC"/>
                </a:solidFill>
              </a:rPr>
              <a:t>Vendor &amp; Warranty</a:t>
            </a:r>
            <a:endParaRPr lang="en-US" sz="1320" dirty="0"/>
          </a:p>
        </p:txBody>
      </p:sp>
      <p:sp>
        <p:nvSpPr>
          <p:cNvPr id="19" name="Text 17"/>
          <p:cNvSpPr/>
          <p:nvPr/>
        </p:nvSpPr>
        <p:spPr>
          <a:xfrm>
            <a:off x="9326880" y="1965960"/>
            <a:ext cx="2286000" cy="1005840"/>
          </a:xfrm>
          <a:prstGeom prst="rect">
            <a:avLst/>
          </a:prstGeom>
          <a:noFill/>
          <a:ln/>
        </p:spPr>
        <p:txBody>
          <a:bodyPr wrap="square" lIns="254" tIns="254" rIns="254" bIns="254" rtlCol="0" anchor="t"/>
          <a:lstStyle/>
          <a:p>
            <a:pPr indent="0" marL="0">
              <a:buNone/>
            </a:pPr>
            <a:r>
              <a:rPr lang="en-US" sz="1000" dirty="0">
                <a:solidFill>
                  <a:srgbClr val="D7E0EF"/>
                </a:solidFill>
              </a:rPr>
              <a:t>Vendor, external technician, bảo hành.</a:t>
            </a:r>
            <a:endParaRPr lang="en-US" sz="1000" dirty="0"/>
          </a:p>
        </p:txBody>
      </p:sp>
      <p:sp>
        <p:nvSpPr>
          <p:cNvPr id="20" name="Shape 18"/>
          <p:cNvSpPr/>
          <p:nvPr/>
        </p:nvSpPr>
        <p:spPr>
          <a:xfrm>
            <a:off x="566928" y="3520440"/>
            <a:ext cx="2606040" cy="1645920"/>
          </a:xfrm>
          <a:prstGeom prst="roundRect">
            <a:avLst>
              <a:gd name="adj" fmla="val 4444"/>
            </a:avLst>
          </a:prstGeom>
          <a:solidFill>
            <a:srgbClr val="111B2E"/>
          </a:solidFill>
          <a:ln w="12700">
            <a:solidFill>
              <a:srgbClr val="213553"/>
            </a:solidFill>
            <a:prstDash val="solid"/>
          </a:ln>
        </p:spPr>
      </p:sp>
      <p:sp>
        <p:nvSpPr>
          <p:cNvPr id="21" name="Shape 19"/>
          <p:cNvSpPr/>
          <p:nvPr/>
        </p:nvSpPr>
        <p:spPr>
          <a:xfrm>
            <a:off x="566928" y="3520440"/>
            <a:ext cx="64008" cy="1645920"/>
          </a:xfrm>
          <a:prstGeom prst="rect">
            <a:avLst/>
          </a:prstGeom>
          <a:solidFill>
            <a:srgbClr val="10B981"/>
          </a:solidFill>
          <a:ln w="12700">
            <a:solidFill>
              <a:srgbClr val="10B981"/>
            </a:solidFill>
            <a:prstDash val="solid"/>
          </a:ln>
        </p:spPr>
      </p:sp>
      <p:sp>
        <p:nvSpPr>
          <p:cNvPr id="22" name="Text 20"/>
          <p:cNvSpPr/>
          <p:nvPr/>
        </p:nvSpPr>
        <p:spPr>
          <a:xfrm>
            <a:off x="768096" y="3675888"/>
            <a:ext cx="2286000" cy="274320"/>
          </a:xfrm>
          <a:prstGeom prst="rect">
            <a:avLst/>
          </a:prstGeom>
          <a:noFill/>
          <a:ln/>
        </p:spPr>
        <p:txBody>
          <a:bodyPr wrap="square" lIns="0" tIns="0" rIns="0" bIns="0" rtlCol="0" anchor="ctr"/>
          <a:lstStyle/>
          <a:p>
            <a:pPr indent="0" marL="0">
              <a:buNone/>
            </a:pPr>
            <a:r>
              <a:rPr lang="en-US" sz="1320" b="1" dirty="0">
                <a:solidFill>
                  <a:srgbClr val="F8FAFC"/>
                </a:solidFill>
              </a:rPr>
              <a:t>Maintenance</a:t>
            </a:r>
            <a:endParaRPr lang="en-US" sz="1320" dirty="0"/>
          </a:p>
        </p:txBody>
      </p:sp>
      <p:sp>
        <p:nvSpPr>
          <p:cNvPr id="23" name="Text 21"/>
          <p:cNvSpPr/>
          <p:nvPr/>
        </p:nvSpPr>
        <p:spPr>
          <a:xfrm>
            <a:off x="768096" y="4023360"/>
            <a:ext cx="2286000" cy="1005840"/>
          </a:xfrm>
          <a:prstGeom prst="rect">
            <a:avLst/>
          </a:prstGeom>
          <a:noFill/>
          <a:ln/>
        </p:spPr>
        <p:txBody>
          <a:bodyPr wrap="square" lIns="254" tIns="254" rIns="254" bIns="254" rtlCol="0" anchor="t"/>
          <a:lstStyle/>
          <a:p>
            <a:pPr indent="0" marL="0">
              <a:buNone/>
            </a:pPr>
            <a:r>
              <a:rPr lang="en-US" sz="1000" dirty="0">
                <a:solidFill>
                  <a:srgbClr val="D7E0EF"/>
                </a:solidFill>
              </a:rPr>
              <a:t>Maintenance Plan, Schedule, checklist, reminder.</a:t>
            </a:r>
            <a:endParaRPr lang="en-US" sz="1000" dirty="0"/>
          </a:p>
        </p:txBody>
      </p:sp>
      <p:sp>
        <p:nvSpPr>
          <p:cNvPr id="24" name="Shape 22"/>
          <p:cNvSpPr/>
          <p:nvPr/>
        </p:nvSpPr>
        <p:spPr>
          <a:xfrm>
            <a:off x="3419856" y="3520440"/>
            <a:ext cx="2606040" cy="1645920"/>
          </a:xfrm>
          <a:prstGeom prst="roundRect">
            <a:avLst>
              <a:gd name="adj" fmla="val 4444"/>
            </a:avLst>
          </a:prstGeom>
          <a:solidFill>
            <a:srgbClr val="111B2E"/>
          </a:solidFill>
          <a:ln w="12700">
            <a:solidFill>
              <a:srgbClr val="213553"/>
            </a:solidFill>
            <a:prstDash val="solid"/>
          </a:ln>
        </p:spPr>
      </p:sp>
      <p:sp>
        <p:nvSpPr>
          <p:cNvPr id="25" name="Shape 23"/>
          <p:cNvSpPr/>
          <p:nvPr/>
        </p:nvSpPr>
        <p:spPr>
          <a:xfrm>
            <a:off x="3419856" y="3520440"/>
            <a:ext cx="64008" cy="1645920"/>
          </a:xfrm>
          <a:prstGeom prst="rect">
            <a:avLst/>
          </a:prstGeom>
          <a:solidFill>
            <a:srgbClr val="EF4444"/>
          </a:solidFill>
          <a:ln w="12700">
            <a:solidFill>
              <a:srgbClr val="EF4444"/>
            </a:solidFill>
            <a:prstDash val="solid"/>
          </a:ln>
        </p:spPr>
      </p:sp>
      <p:sp>
        <p:nvSpPr>
          <p:cNvPr id="26" name="Text 24"/>
          <p:cNvSpPr/>
          <p:nvPr/>
        </p:nvSpPr>
        <p:spPr>
          <a:xfrm>
            <a:off x="3621024" y="3675888"/>
            <a:ext cx="2286000" cy="274320"/>
          </a:xfrm>
          <a:prstGeom prst="rect">
            <a:avLst/>
          </a:prstGeom>
          <a:noFill/>
          <a:ln/>
        </p:spPr>
        <p:txBody>
          <a:bodyPr wrap="square" lIns="0" tIns="0" rIns="0" bIns="0" rtlCol="0" anchor="ctr"/>
          <a:lstStyle/>
          <a:p>
            <a:pPr indent="0" marL="0">
              <a:buNone/>
            </a:pPr>
            <a:r>
              <a:rPr lang="en-US" sz="1320" b="1" dirty="0">
                <a:solidFill>
                  <a:srgbClr val="F8FAFC"/>
                </a:solidFill>
              </a:rPr>
              <a:t>Work Order</a:t>
            </a:r>
            <a:endParaRPr lang="en-US" sz="1320" dirty="0"/>
          </a:p>
        </p:txBody>
      </p:sp>
      <p:sp>
        <p:nvSpPr>
          <p:cNvPr id="27" name="Text 25"/>
          <p:cNvSpPr/>
          <p:nvPr/>
        </p:nvSpPr>
        <p:spPr>
          <a:xfrm>
            <a:off x="3621024" y="4023360"/>
            <a:ext cx="2286000" cy="1005840"/>
          </a:xfrm>
          <a:prstGeom prst="rect">
            <a:avLst/>
          </a:prstGeom>
          <a:noFill/>
          <a:ln/>
        </p:spPr>
        <p:txBody>
          <a:bodyPr wrap="square" lIns="254" tIns="254" rIns="254" bIns="254" rtlCol="0" anchor="t"/>
          <a:lstStyle/>
          <a:p>
            <a:pPr indent="0" marL="0">
              <a:buNone/>
            </a:pPr>
            <a:r>
              <a:rPr lang="en-US" sz="1000" dirty="0">
                <a:solidFill>
                  <a:srgbClr val="D7E0EF"/>
                </a:solidFill>
              </a:rPr>
              <a:t>Create, priority, workflow, checklist, attachment.</a:t>
            </a:r>
            <a:endParaRPr lang="en-US" sz="1000" dirty="0"/>
          </a:p>
        </p:txBody>
      </p:sp>
      <p:sp>
        <p:nvSpPr>
          <p:cNvPr id="28" name="Shape 26"/>
          <p:cNvSpPr/>
          <p:nvPr/>
        </p:nvSpPr>
        <p:spPr>
          <a:xfrm>
            <a:off x="6272784" y="3520440"/>
            <a:ext cx="2606040" cy="1645920"/>
          </a:xfrm>
          <a:prstGeom prst="roundRect">
            <a:avLst>
              <a:gd name="adj" fmla="val 4444"/>
            </a:avLst>
          </a:prstGeom>
          <a:solidFill>
            <a:srgbClr val="111B2E"/>
          </a:solidFill>
          <a:ln w="12700">
            <a:solidFill>
              <a:srgbClr val="213553"/>
            </a:solidFill>
            <a:prstDash val="solid"/>
          </a:ln>
        </p:spPr>
      </p:sp>
      <p:sp>
        <p:nvSpPr>
          <p:cNvPr id="29" name="Shape 27"/>
          <p:cNvSpPr/>
          <p:nvPr/>
        </p:nvSpPr>
        <p:spPr>
          <a:xfrm>
            <a:off x="6272784" y="3520440"/>
            <a:ext cx="64008" cy="1645920"/>
          </a:xfrm>
          <a:prstGeom prst="rect">
            <a:avLst/>
          </a:prstGeom>
          <a:solidFill>
            <a:srgbClr val="3B82F6"/>
          </a:solidFill>
          <a:ln w="12700">
            <a:solidFill>
              <a:srgbClr val="3B82F6"/>
            </a:solidFill>
            <a:prstDash val="solid"/>
          </a:ln>
        </p:spPr>
      </p:sp>
      <p:sp>
        <p:nvSpPr>
          <p:cNvPr id="30" name="Text 28"/>
          <p:cNvSpPr/>
          <p:nvPr/>
        </p:nvSpPr>
        <p:spPr>
          <a:xfrm>
            <a:off x="6473952" y="3675888"/>
            <a:ext cx="2286000" cy="274320"/>
          </a:xfrm>
          <a:prstGeom prst="rect">
            <a:avLst/>
          </a:prstGeom>
          <a:noFill/>
          <a:ln/>
        </p:spPr>
        <p:txBody>
          <a:bodyPr wrap="square" lIns="0" tIns="0" rIns="0" bIns="0" rtlCol="0" anchor="ctr"/>
          <a:lstStyle/>
          <a:p>
            <a:pPr indent="0" marL="0">
              <a:buNone/>
            </a:pPr>
            <a:r>
              <a:rPr lang="en-US" sz="1320" b="1" dirty="0">
                <a:solidFill>
                  <a:srgbClr val="F8FAFC"/>
                </a:solidFill>
              </a:rPr>
              <a:t>Dispatch &amp; Mobile</a:t>
            </a:r>
            <a:endParaRPr lang="en-US" sz="1320" dirty="0"/>
          </a:p>
        </p:txBody>
      </p:sp>
      <p:sp>
        <p:nvSpPr>
          <p:cNvPr id="31" name="Text 29"/>
          <p:cNvSpPr/>
          <p:nvPr/>
        </p:nvSpPr>
        <p:spPr>
          <a:xfrm>
            <a:off x="6473952" y="4023360"/>
            <a:ext cx="2286000" cy="1005840"/>
          </a:xfrm>
          <a:prstGeom prst="rect">
            <a:avLst/>
          </a:prstGeom>
          <a:noFill/>
          <a:ln/>
        </p:spPr>
        <p:txBody>
          <a:bodyPr wrap="square" lIns="254" tIns="254" rIns="254" bIns="254" rtlCol="0" anchor="t"/>
          <a:lstStyle/>
          <a:p>
            <a:pPr indent="0" marL="0">
              <a:buNone/>
            </a:pPr>
            <a:r>
              <a:rPr lang="en-US" sz="1000" dirty="0">
                <a:solidFill>
                  <a:srgbClr val="D7E0EF"/>
                </a:solidFill>
              </a:rPr>
              <a:t>Assign technician, My Jobs, accept/start/complete.</a:t>
            </a:r>
            <a:endParaRPr lang="en-US" sz="1000" dirty="0"/>
          </a:p>
        </p:txBody>
      </p:sp>
      <p:sp>
        <p:nvSpPr>
          <p:cNvPr id="32" name="Shape 30"/>
          <p:cNvSpPr/>
          <p:nvPr/>
        </p:nvSpPr>
        <p:spPr>
          <a:xfrm>
            <a:off x="9125712" y="3520440"/>
            <a:ext cx="2606040" cy="1645920"/>
          </a:xfrm>
          <a:prstGeom prst="roundRect">
            <a:avLst>
              <a:gd name="adj" fmla="val 4444"/>
            </a:avLst>
          </a:prstGeom>
          <a:solidFill>
            <a:srgbClr val="111B2E"/>
          </a:solidFill>
          <a:ln w="12700">
            <a:solidFill>
              <a:srgbClr val="213553"/>
            </a:solidFill>
            <a:prstDash val="solid"/>
          </a:ln>
        </p:spPr>
      </p:sp>
      <p:sp>
        <p:nvSpPr>
          <p:cNvPr id="33" name="Shape 31"/>
          <p:cNvSpPr/>
          <p:nvPr/>
        </p:nvSpPr>
        <p:spPr>
          <a:xfrm>
            <a:off x="9125712" y="3520440"/>
            <a:ext cx="64008" cy="1645920"/>
          </a:xfrm>
          <a:prstGeom prst="rect">
            <a:avLst/>
          </a:prstGeom>
          <a:solidFill>
            <a:srgbClr val="8B5CF6"/>
          </a:solidFill>
          <a:ln w="12700">
            <a:solidFill>
              <a:srgbClr val="8B5CF6"/>
            </a:solidFill>
            <a:prstDash val="solid"/>
          </a:ln>
        </p:spPr>
      </p:sp>
      <p:sp>
        <p:nvSpPr>
          <p:cNvPr id="34" name="Text 32"/>
          <p:cNvSpPr/>
          <p:nvPr/>
        </p:nvSpPr>
        <p:spPr>
          <a:xfrm>
            <a:off x="9326880" y="3675888"/>
            <a:ext cx="2286000" cy="274320"/>
          </a:xfrm>
          <a:prstGeom prst="rect">
            <a:avLst/>
          </a:prstGeom>
          <a:noFill/>
          <a:ln/>
        </p:spPr>
        <p:txBody>
          <a:bodyPr wrap="square" lIns="0" tIns="0" rIns="0" bIns="0" rtlCol="0" anchor="ctr"/>
          <a:lstStyle/>
          <a:p>
            <a:pPr indent="0" marL="0">
              <a:buNone/>
            </a:pPr>
            <a:r>
              <a:rPr lang="en-US" sz="1320" b="1" dirty="0">
                <a:solidFill>
                  <a:srgbClr val="F8FAFC"/>
                </a:solidFill>
              </a:rPr>
              <a:t>Dashboard &amp; Audit</a:t>
            </a:r>
            <a:endParaRPr lang="en-US" sz="1320" dirty="0"/>
          </a:p>
        </p:txBody>
      </p:sp>
      <p:sp>
        <p:nvSpPr>
          <p:cNvPr id="35" name="Text 33"/>
          <p:cNvSpPr/>
          <p:nvPr/>
        </p:nvSpPr>
        <p:spPr>
          <a:xfrm>
            <a:off x="9326880" y="4023360"/>
            <a:ext cx="2286000" cy="1005840"/>
          </a:xfrm>
          <a:prstGeom prst="rect">
            <a:avLst/>
          </a:prstGeom>
          <a:noFill/>
          <a:ln/>
        </p:spPr>
        <p:txBody>
          <a:bodyPr wrap="square" lIns="254" tIns="254" rIns="254" bIns="254" rtlCol="0" anchor="t"/>
          <a:lstStyle/>
          <a:p>
            <a:pPr indent="0" marL="0">
              <a:buNone/>
            </a:pPr>
            <a:r>
              <a:rPr lang="en-US" sz="1000" dirty="0">
                <a:solidFill>
                  <a:srgbClr val="D7E0EF"/>
                </a:solidFill>
              </a:rPr>
              <a:t>Thống kê, báo cáo và lịch sử thao tác.</a:t>
            </a:r>
            <a:endParaRPr lang="en-US" sz="1000" dirty="0"/>
          </a:p>
        </p:txBody>
      </p:sp>
      <p:sp>
        <p:nvSpPr>
          <p:cNvPr id="36" name="Text 34"/>
          <p:cNvSpPr/>
          <p:nvPr/>
        </p:nvSpPr>
        <p:spPr>
          <a:xfrm>
            <a:off x="822960" y="5879592"/>
            <a:ext cx="10515600" cy="347472"/>
          </a:xfrm>
          <a:prstGeom prst="rect">
            <a:avLst/>
          </a:prstGeom>
          <a:noFill/>
          <a:ln/>
        </p:spPr>
        <p:txBody>
          <a:bodyPr wrap="square" lIns="0" tIns="0" rIns="0" bIns="0" rtlCol="0" anchor="ctr"/>
          <a:lstStyle/>
          <a:p>
            <a:pPr algn="ctr" indent="0" marL="0">
              <a:buNone/>
            </a:pPr>
            <a:r>
              <a:rPr lang="en-US" sz="1150" b="1" dirty="0">
                <a:solidFill>
                  <a:srgbClr val="22D3EE"/>
                </a:solidFill>
              </a:rPr>
              <a:t>MVP ưu tiên: Auth → Tenant → Asset → Maintenance → Work Order → Technician Mobile → Dashboard/Audit</a:t>
            </a:r>
            <a:endParaRPr lang="en-US" sz="1150" dirty="0"/>
          </a:p>
        </p:txBody>
      </p:sp>
      <p:sp>
        <p:nvSpPr>
          <p:cNvPr id="25" name="Slide Number Placeholder 0"/>
          <p:cNvSpPr>
            <a:spLocks noGrp="1"/>
          </p:cNvSpPr>
          <p:nvPr>
            <p:ph type="sldNum" sz="quarter" idx="4294967295"/>
          </p:nvPr>
        </p:nvSpPr>
        <p:spPr>
          <a:xfrm>
            <a:off x="11795760" y="6510528"/>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E8CA8"/>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47472"/>
            <a:ext cx="11064240" cy="457200"/>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5. Quy trình nghiệp vụ end-to-end</a:t>
            </a:r>
            <a:endParaRPr lang="en-US" sz="2600" dirty="0"/>
          </a:p>
        </p:txBody>
      </p:sp>
      <p:sp>
        <p:nvSpPr>
          <p:cNvPr id="3" name="Text 1"/>
          <p:cNvSpPr/>
          <p:nvPr/>
        </p:nvSpPr>
        <p:spPr>
          <a:xfrm>
            <a:off x="512064" y="841248"/>
            <a:ext cx="10972800" cy="310896"/>
          </a:xfrm>
          <a:prstGeom prst="rect">
            <a:avLst/>
          </a:prstGeom>
          <a:noFill/>
          <a:ln/>
        </p:spPr>
        <p:txBody>
          <a:bodyPr wrap="square" lIns="0" tIns="0" rIns="0" bIns="0" rtlCol="0" anchor="ctr"/>
          <a:lstStyle/>
          <a:p>
            <a:pPr indent="0" marL="0">
              <a:buNone/>
            </a:pPr>
            <a:r>
              <a:rPr lang="en-US" sz="1150" dirty="0">
                <a:solidFill>
                  <a:srgbClr val="8EA0BD"/>
                </a:solidFill>
                <a:latin typeface="Aptos" pitchFamily="34" charset="0"/>
                <a:ea typeface="Aptos" pitchFamily="34" charset="-122"/>
                <a:cs typeface="Aptos" pitchFamily="34" charset="-120"/>
              </a:rPr>
              <a:t>Một luồng demo xuyên suốt từ tài sản đến hoàn thành công việc bảo trì.</a:t>
            </a:r>
            <a:endParaRPr lang="en-US" sz="1150" dirty="0"/>
          </a:p>
        </p:txBody>
      </p:sp>
      <p:sp>
        <p:nvSpPr>
          <p:cNvPr id="4" name="Shape 2"/>
          <p:cNvSpPr/>
          <p:nvPr/>
        </p:nvSpPr>
        <p:spPr>
          <a:xfrm>
            <a:off x="411480" y="2377440"/>
            <a:ext cx="1234440" cy="804672"/>
          </a:xfrm>
          <a:prstGeom prst="roundRect">
            <a:avLst>
              <a:gd name="adj" fmla="val 7955"/>
            </a:avLst>
          </a:prstGeom>
          <a:solidFill>
            <a:srgbClr val="111B2E"/>
          </a:solidFill>
          <a:ln w="20320">
            <a:solidFill>
              <a:srgbClr val="3B82F6"/>
            </a:solidFill>
            <a:prstDash val="solid"/>
          </a:ln>
        </p:spPr>
      </p:sp>
      <p:sp>
        <p:nvSpPr>
          <p:cNvPr id="5" name="Text 3"/>
          <p:cNvSpPr/>
          <p:nvPr/>
        </p:nvSpPr>
        <p:spPr>
          <a:xfrm>
            <a:off x="484632" y="2496312"/>
            <a:ext cx="1088136" cy="228600"/>
          </a:xfrm>
          <a:prstGeom prst="rect">
            <a:avLst/>
          </a:prstGeom>
          <a:noFill/>
          <a:ln/>
        </p:spPr>
        <p:txBody>
          <a:bodyPr wrap="square" lIns="0" tIns="0" rIns="0" bIns="0" rtlCol="0" anchor="ctr"/>
          <a:lstStyle/>
          <a:p>
            <a:pPr algn="ctr" indent="0" marL="0">
              <a:buNone/>
            </a:pPr>
            <a:r>
              <a:rPr lang="en-US" sz="1200" b="1" dirty="0">
                <a:solidFill>
                  <a:srgbClr val="F8FAFC"/>
                </a:solidFill>
              </a:rPr>
              <a:t>Asset</a:t>
            </a:r>
            <a:endParaRPr lang="en-US" sz="1200" dirty="0"/>
          </a:p>
        </p:txBody>
      </p:sp>
      <p:sp>
        <p:nvSpPr>
          <p:cNvPr id="6" name="Text 4"/>
          <p:cNvSpPr/>
          <p:nvPr/>
        </p:nvSpPr>
        <p:spPr>
          <a:xfrm>
            <a:off x="484632" y="2770632"/>
            <a:ext cx="1088136" cy="219456"/>
          </a:xfrm>
          <a:prstGeom prst="rect">
            <a:avLst/>
          </a:prstGeom>
          <a:noFill/>
          <a:ln/>
        </p:spPr>
        <p:txBody>
          <a:bodyPr wrap="square" lIns="0" tIns="0" rIns="0" bIns="0" rtlCol="0" anchor="ctr"/>
          <a:lstStyle/>
          <a:p>
            <a:pPr algn="ctr" indent="0" marL="0">
              <a:buNone/>
            </a:pPr>
            <a:r>
              <a:rPr lang="en-US" sz="870" dirty="0">
                <a:solidFill>
                  <a:srgbClr val="8EA0BD"/>
                </a:solidFill>
              </a:rPr>
              <a:t>Thiết bị</a:t>
            </a:r>
            <a:endParaRPr lang="en-US" sz="870" dirty="0"/>
          </a:p>
        </p:txBody>
      </p:sp>
      <p:sp>
        <p:nvSpPr>
          <p:cNvPr id="7" name="Shape 5"/>
          <p:cNvSpPr/>
          <p:nvPr/>
        </p:nvSpPr>
        <p:spPr>
          <a:xfrm>
            <a:off x="1664208" y="2779776"/>
            <a:ext cx="283464" cy="0"/>
          </a:xfrm>
          <a:prstGeom prst="line">
            <a:avLst/>
          </a:prstGeom>
          <a:noFill/>
          <a:ln w="17780">
            <a:solidFill>
              <a:srgbClr val="52627E"/>
            </a:solidFill>
            <a:prstDash val="solid"/>
            <a:headEnd type="none"/>
            <a:tailEnd type="triangle"/>
          </a:ln>
        </p:spPr>
      </p:sp>
      <p:sp>
        <p:nvSpPr>
          <p:cNvPr id="8" name="Shape 6"/>
          <p:cNvSpPr/>
          <p:nvPr/>
        </p:nvSpPr>
        <p:spPr>
          <a:xfrm>
            <a:off x="1965960" y="2377440"/>
            <a:ext cx="1234440" cy="804672"/>
          </a:xfrm>
          <a:prstGeom prst="roundRect">
            <a:avLst>
              <a:gd name="adj" fmla="val 7955"/>
            </a:avLst>
          </a:prstGeom>
          <a:solidFill>
            <a:srgbClr val="111B2E"/>
          </a:solidFill>
          <a:ln w="20320">
            <a:solidFill>
              <a:srgbClr val="10B981"/>
            </a:solidFill>
            <a:prstDash val="solid"/>
          </a:ln>
        </p:spPr>
      </p:sp>
      <p:sp>
        <p:nvSpPr>
          <p:cNvPr id="9" name="Text 7"/>
          <p:cNvSpPr/>
          <p:nvPr/>
        </p:nvSpPr>
        <p:spPr>
          <a:xfrm>
            <a:off x="2039112" y="2496312"/>
            <a:ext cx="1088136" cy="228600"/>
          </a:xfrm>
          <a:prstGeom prst="rect">
            <a:avLst/>
          </a:prstGeom>
          <a:noFill/>
          <a:ln/>
        </p:spPr>
        <p:txBody>
          <a:bodyPr wrap="square" lIns="0" tIns="0" rIns="0" bIns="0" rtlCol="0" anchor="ctr"/>
          <a:lstStyle/>
          <a:p>
            <a:pPr algn="ctr" indent="0" marL="0">
              <a:buNone/>
            </a:pPr>
            <a:r>
              <a:rPr lang="en-US" sz="1200" b="1" dirty="0">
                <a:solidFill>
                  <a:srgbClr val="F8FAFC"/>
                </a:solidFill>
              </a:rPr>
              <a:t>Plan</a:t>
            </a:r>
            <a:endParaRPr lang="en-US" sz="1200" dirty="0"/>
          </a:p>
        </p:txBody>
      </p:sp>
      <p:sp>
        <p:nvSpPr>
          <p:cNvPr id="10" name="Text 8"/>
          <p:cNvSpPr/>
          <p:nvPr/>
        </p:nvSpPr>
        <p:spPr>
          <a:xfrm>
            <a:off x="2039112" y="2770632"/>
            <a:ext cx="1088136" cy="219456"/>
          </a:xfrm>
          <a:prstGeom prst="rect">
            <a:avLst/>
          </a:prstGeom>
          <a:noFill/>
          <a:ln/>
        </p:spPr>
        <p:txBody>
          <a:bodyPr wrap="square" lIns="0" tIns="0" rIns="0" bIns="0" rtlCol="0" anchor="ctr"/>
          <a:lstStyle/>
          <a:p>
            <a:pPr algn="ctr" indent="0" marL="0">
              <a:buNone/>
            </a:pPr>
            <a:r>
              <a:rPr lang="en-US" sz="870" dirty="0">
                <a:solidFill>
                  <a:srgbClr val="8EA0BD"/>
                </a:solidFill>
              </a:rPr>
              <a:t>Lịch bảo trì</a:t>
            </a:r>
            <a:endParaRPr lang="en-US" sz="870" dirty="0"/>
          </a:p>
        </p:txBody>
      </p:sp>
      <p:sp>
        <p:nvSpPr>
          <p:cNvPr id="11" name="Shape 9"/>
          <p:cNvSpPr/>
          <p:nvPr/>
        </p:nvSpPr>
        <p:spPr>
          <a:xfrm>
            <a:off x="3218688" y="2779776"/>
            <a:ext cx="283464" cy="0"/>
          </a:xfrm>
          <a:prstGeom prst="line">
            <a:avLst/>
          </a:prstGeom>
          <a:noFill/>
          <a:ln w="17780">
            <a:solidFill>
              <a:srgbClr val="52627E"/>
            </a:solidFill>
            <a:prstDash val="solid"/>
            <a:headEnd type="none"/>
            <a:tailEnd type="triangle"/>
          </a:ln>
        </p:spPr>
      </p:sp>
      <p:sp>
        <p:nvSpPr>
          <p:cNvPr id="12" name="Shape 10"/>
          <p:cNvSpPr/>
          <p:nvPr/>
        </p:nvSpPr>
        <p:spPr>
          <a:xfrm>
            <a:off x="3520440" y="2377440"/>
            <a:ext cx="1234440" cy="804672"/>
          </a:xfrm>
          <a:prstGeom prst="roundRect">
            <a:avLst>
              <a:gd name="adj" fmla="val 7955"/>
            </a:avLst>
          </a:prstGeom>
          <a:solidFill>
            <a:srgbClr val="111B2E"/>
          </a:solidFill>
          <a:ln w="20320">
            <a:solidFill>
              <a:srgbClr val="EF4444"/>
            </a:solidFill>
            <a:prstDash val="solid"/>
          </a:ln>
        </p:spPr>
      </p:sp>
      <p:sp>
        <p:nvSpPr>
          <p:cNvPr id="13" name="Text 11"/>
          <p:cNvSpPr/>
          <p:nvPr/>
        </p:nvSpPr>
        <p:spPr>
          <a:xfrm>
            <a:off x="3593592" y="2496312"/>
            <a:ext cx="1088136" cy="228600"/>
          </a:xfrm>
          <a:prstGeom prst="rect">
            <a:avLst/>
          </a:prstGeom>
          <a:noFill/>
          <a:ln/>
        </p:spPr>
        <p:txBody>
          <a:bodyPr wrap="square" lIns="0" tIns="0" rIns="0" bIns="0" rtlCol="0" anchor="ctr"/>
          <a:lstStyle/>
          <a:p>
            <a:pPr algn="ctr" indent="0" marL="0">
              <a:buNone/>
            </a:pPr>
            <a:r>
              <a:rPr lang="en-US" sz="1200" b="1" dirty="0">
                <a:solidFill>
                  <a:srgbClr val="F8FAFC"/>
                </a:solidFill>
              </a:rPr>
              <a:t>Work Order</a:t>
            </a:r>
            <a:endParaRPr lang="en-US" sz="1200" dirty="0"/>
          </a:p>
        </p:txBody>
      </p:sp>
      <p:sp>
        <p:nvSpPr>
          <p:cNvPr id="14" name="Text 12"/>
          <p:cNvSpPr/>
          <p:nvPr/>
        </p:nvSpPr>
        <p:spPr>
          <a:xfrm>
            <a:off x="3593592" y="2770632"/>
            <a:ext cx="1088136" cy="219456"/>
          </a:xfrm>
          <a:prstGeom prst="rect">
            <a:avLst/>
          </a:prstGeom>
          <a:noFill/>
          <a:ln/>
        </p:spPr>
        <p:txBody>
          <a:bodyPr wrap="square" lIns="0" tIns="0" rIns="0" bIns="0" rtlCol="0" anchor="ctr"/>
          <a:lstStyle/>
          <a:p>
            <a:pPr algn="ctr" indent="0" marL="0">
              <a:buNone/>
            </a:pPr>
            <a:r>
              <a:rPr lang="en-US" sz="870" dirty="0">
                <a:solidFill>
                  <a:srgbClr val="8EA0BD"/>
                </a:solidFill>
              </a:rPr>
              <a:t>Tạo công việc</a:t>
            </a:r>
            <a:endParaRPr lang="en-US" sz="870" dirty="0"/>
          </a:p>
        </p:txBody>
      </p:sp>
      <p:sp>
        <p:nvSpPr>
          <p:cNvPr id="15" name="Shape 13"/>
          <p:cNvSpPr/>
          <p:nvPr/>
        </p:nvSpPr>
        <p:spPr>
          <a:xfrm>
            <a:off x="4773168" y="2779776"/>
            <a:ext cx="283464" cy="0"/>
          </a:xfrm>
          <a:prstGeom prst="line">
            <a:avLst/>
          </a:prstGeom>
          <a:noFill/>
          <a:ln w="17780">
            <a:solidFill>
              <a:srgbClr val="52627E"/>
            </a:solidFill>
            <a:prstDash val="solid"/>
            <a:headEnd type="none"/>
            <a:tailEnd type="triangle"/>
          </a:ln>
        </p:spPr>
      </p:sp>
      <p:sp>
        <p:nvSpPr>
          <p:cNvPr id="16" name="Shape 14"/>
          <p:cNvSpPr/>
          <p:nvPr/>
        </p:nvSpPr>
        <p:spPr>
          <a:xfrm>
            <a:off x="5074920" y="2377440"/>
            <a:ext cx="1234440" cy="804672"/>
          </a:xfrm>
          <a:prstGeom prst="roundRect">
            <a:avLst>
              <a:gd name="adj" fmla="val 7955"/>
            </a:avLst>
          </a:prstGeom>
          <a:solidFill>
            <a:srgbClr val="111B2E"/>
          </a:solidFill>
          <a:ln w="20320">
            <a:solidFill>
              <a:srgbClr val="F59E0B"/>
            </a:solidFill>
            <a:prstDash val="solid"/>
          </a:ln>
        </p:spPr>
      </p:sp>
      <p:sp>
        <p:nvSpPr>
          <p:cNvPr id="17" name="Text 15"/>
          <p:cNvSpPr/>
          <p:nvPr/>
        </p:nvSpPr>
        <p:spPr>
          <a:xfrm>
            <a:off x="5148072" y="2496312"/>
            <a:ext cx="1088136" cy="228600"/>
          </a:xfrm>
          <a:prstGeom prst="rect">
            <a:avLst/>
          </a:prstGeom>
          <a:noFill/>
          <a:ln/>
        </p:spPr>
        <p:txBody>
          <a:bodyPr wrap="square" lIns="0" tIns="0" rIns="0" bIns="0" rtlCol="0" anchor="ctr"/>
          <a:lstStyle/>
          <a:p>
            <a:pPr algn="ctr" indent="0" marL="0">
              <a:buNone/>
            </a:pPr>
            <a:r>
              <a:rPr lang="en-US" sz="1200" b="1" dirty="0">
                <a:solidFill>
                  <a:srgbClr val="F8FAFC"/>
                </a:solidFill>
              </a:rPr>
              <a:t>Assign</a:t>
            </a:r>
            <a:endParaRPr lang="en-US" sz="1200" dirty="0"/>
          </a:p>
        </p:txBody>
      </p:sp>
      <p:sp>
        <p:nvSpPr>
          <p:cNvPr id="18" name="Text 16"/>
          <p:cNvSpPr/>
          <p:nvPr/>
        </p:nvSpPr>
        <p:spPr>
          <a:xfrm>
            <a:off x="5148072" y="2770632"/>
            <a:ext cx="1088136" cy="219456"/>
          </a:xfrm>
          <a:prstGeom prst="rect">
            <a:avLst/>
          </a:prstGeom>
          <a:noFill/>
          <a:ln/>
        </p:spPr>
        <p:txBody>
          <a:bodyPr wrap="square" lIns="0" tIns="0" rIns="0" bIns="0" rtlCol="0" anchor="ctr"/>
          <a:lstStyle/>
          <a:p>
            <a:pPr algn="ctr" indent="0" marL="0">
              <a:buNone/>
            </a:pPr>
            <a:r>
              <a:rPr lang="en-US" sz="870" dirty="0">
                <a:solidFill>
                  <a:srgbClr val="8EA0BD"/>
                </a:solidFill>
              </a:rPr>
              <a:t>Phân công</a:t>
            </a:r>
            <a:endParaRPr lang="en-US" sz="870" dirty="0"/>
          </a:p>
        </p:txBody>
      </p:sp>
      <p:sp>
        <p:nvSpPr>
          <p:cNvPr id="19" name="Shape 17"/>
          <p:cNvSpPr/>
          <p:nvPr/>
        </p:nvSpPr>
        <p:spPr>
          <a:xfrm>
            <a:off x="6327648" y="2779776"/>
            <a:ext cx="283464" cy="0"/>
          </a:xfrm>
          <a:prstGeom prst="line">
            <a:avLst/>
          </a:prstGeom>
          <a:noFill/>
          <a:ln w="17780">
            <a:solidFill>
              <a:srgbClr val="52627E"/>
            </a:solidFill>
            <a:prstDash val="solid"/>
            <a:headEnd type="none"/>
            <a:tailEnd type="triangle"/>
          </a:ln>
        </p:spPr>
      </p:sp>
      <p:sp>
        <p:nvSpPr>
          <p:cNvPr id="20" name="Shape 18"/>
          <p:cNvSpPr/>
          <p:nvPr/>
        </p:nvSpPr>
        <p:spPr>
          <a:xfrm>
            <a:off x="6629400" y="2377440"/>
            <a:ext cx="1234440" cy="804672"/>
          </a:xfrm>
          <a:prstGeom prst="roundRect">
            <a:avLst>
              <a:gd name="adj" fmla="val 7955"/>
            </a:avLst>
          </a:prstGeom>
          <a:solidFill>
            <a:srgbClr val="111B2E"/>
          </a:solidFill>
          <a:ln w="20320">
            <a:solidFill>
              <a:srgbClr val="22D3EE"/>
            </a:solidFill>
            <a:prstDash val="solid"/>
          </a:ln>
        </p:spPr>
      </p:sp>
      <p:sp>
        <p:nvSpPr>
          <p:cNvPr id="21" name="Text 19"/>
          <p:cNvSpPr/>
          <p:nvPr/>
        </p:nvSpPr>
        <p:spPr>
          <a:xfrm>
            <a:off x="6702552" y="2496312"/>
            <a:ext cx="1088136" cy="228600"/>
          </a:xfrm>
          <a:prstGeom prst="rect">
            <a:avLst/>
          </a:prstGeom>
          <a:noFill/>
          <a:ln/>
        </p:spPr>
        <p:txBody>
          <a:bodyPr wrap="square" lIns="0" tIns="0" rIns="0" bIns="0" rtlCol="0" anchor="ctr"/>
          <a:lstStyle/>
          <a:p>
            <a:pPr algn="ctr" indent="0" marL="0">
              <a:buNone/>
            </a:pPr>
            <a:r>
              <a:rPr lang="en-US" sz="1200" b="1" dirty="0">
                <a:solidFill>
                  <a:srgbClr val="F8FAFC"/>
                </a:solidFill>
              </a:rPr>
              <a:t>Technician</a:t>
            </a:r>
            <a:endParaRPr lang="en-US" sz="1200" dirty="0"/>
          </a:p>
        </p:txBody>
      </p:sp>
      <p:sp>
        <p:nvSpPr>
          <p:cNvPr id="22" name="Text 20"/>
          <p:cNvSpPr/>
          <p:nvPr/>
        </p:nvSpPr>
        <p:spPr>
          <a:xfrm>
            <a:off x="6702552" y="2770632"/>
            <a:ext cx="1088136" cy="219456"/>
          </a:xfrm>
          <a:prstGeom prst="rect">
            <a:avLst/>
          </a:prstGeom>
          <a:noFill/>
          <a:ln/>
        </p:spPr>
        <p:txBody>
          <a:bodyPr wrap="square" lIns="0" tIns="0" rIns="0" bIns="0" rtlCol="0" anchor="ctr"/>
          <a:lstStyle/>
          <a:p>
            <a:pPr algn="ctr" indent="0" marL="0">
              <a:buNone/>
            </a:pPr>
            <a:r>
              <a:rPr lang="en-US" sz="870" dirty="0">
                <a:solidFill>
                  <a:srgbClr val="8EA0BD"/>
                </a:solidFill>
              </a:rPr>
              <a:t>Mobile xử lý</a:t>
            </a:r>
            <a:endParaRPr lang="en-US" sz="870" dirty="0"/>
          </a:p>
        </p:txBody>
      </p:sp>
      <p:sp>
        <p:nvSpPr>
          <p:cNvPr id="23" name="Shape 21"/>
          <p:cNvSpPr/>
          <p:nvPr/>
        </p:nvSpPr>
        <p:spPr>
          <a:xfrm>
            <a:off x="7882128" y="2779776"/>
            <a:ext cx="283464" cy="0"/>
          </a:xfrm>
          <a:prstGeom prst="line">
            <a:avLst/>
          </a:prstGeom>
          <a:noFill/>
          <a:ln w="17780">
            <a:solidFill>
              <a:srgbClr val="52627E"/>
            </a:solidFill>
            <a:prstDash val="solid"/>
            <a:headEnd type="none"/>
            <a:tailEnd type="triangle"/>
          </a:ln>
        </p:spPr>
      </p:sp>
      <p:sp>
        <p:nvSpPr>
          <p:cNvPr id="24" name="Shape 22"/>
          <p:cNvSpPr/>
          <p:nvPr/>
        </p:nvSpPr>
        <p:spPr>
          <a:xfrm>
            <a:off x="8183880" y="2377440"/>
            <a:ext cx="1234440" cy="804672"/>
          </a:xfrm>
          <a:prstGeom prst="roundRect">
            <a:avLst>
              <a:gd name="adj" fmla="val 7955"/>
            </a:avLst>
          </a:prstGeom>
          <a:solidFill>
            <a:srgbClr val="111B2E"/>
          </a:solidFill>
          <a:ln w="20320">
            <a:solidFill>
              <a:srgbClr val="8B5CF6"/>
            </a:solidFill>
            <a:prstDash val="solid"/>
          </a:ln>
        </p:spPr>
      </p:sp>
      <p:sp>
        <p:nvSpPr>
          <p:cNvPr id="25" name="Text 23"/>
          <p:cNvSpPr/>
          <p:nvPr/>
        </p:nvSpPr>
        <p:spPr>
          <a:xfrm>
            <a:off x="8257032" y="2496312"/>
            <a:ext cx="1088136" cy="228600"/>
          </a:xfrm>
          <a:prstGeom prst="rect">
            <a:avLst/>
          </a:prstGeom>
          <a:noFill/>
          <a:ln/>
        </p:spPr>
        <p:txBody>
          <a:bodyPr wrap="square" lIns="0" tIns="0" rIns="0" bIns="0" rtlCol="0" anchor="ctr"/>
          <a:lstStyle/>
          <a:p>
            <a:pPr algn="ctr" indent="0" marL="0">
              <a:buNone/>
            </a:pPr>
            <a:r>
              <a:rPr lang="en-US" sz="1200" b="1" dirty="0">
                <a:solidFill>
                  <a:srgbClr val="F8FAFC"/>
                </a:solidFill>
              </a:rPr>
              <a:t>Verify</a:t>
            </a:r>
            <a:endParaRPr lang="en-US" sz="1200" dirty="0"/>
          </a:p>
        </p:txBody>
      </p:sp>
      <p:sp>
        <p:nvSpPr>
          <p:cNvPr id="26" name="Text 24"/>
          <p:cNvSpPr/>
          <p:nvPr/>
        </p:nvSpPr>
        <p:spPr>
          <a:xfrm>
            <a:off x="8257032" y="2770632"/>
            <a:ext cx="1088136" cy="219456"/>
          </a:xfrm>
          <a:prstGeom prst="rect">
            <a:avLst/>
          </a:prstGeom>
          <a:noFill/>
          <a:ln/>
        </p:spPr>
        <p:txBody>
          <a:bodyPr wrap="square" lIns="0" tIns="0" rIns="0" bIns="0" rtlCol="0" anchor="ctr"/>
          <a:lstStyle/>
          <a:p>
            <a:pPr algn="ctr" indent="0" marL="0">
              <a:buNone/>
            </a:pPr>
            <a:r>
              <a:rPr lang="en-US" sz="870" dirty="0">
                <a:solidFill>
                  <a:srgbClr val="8EA0BD"/>
                </a:solidFill>
              </a:rPr>
              <a:t>Manager xác nhận</a:t>
            </a:r>
            <a:endParaRPr lang="en-US" sz="870" dirty="0"/>
          </a:p>
        </p:txBody>
      </p:sp>
      <p:sp>
        <p:nvSpPr>
          <p:cNvPr id="27" name="Shape 25"/>
          <p:cNvSpPr/>
          <p:nvPr/>
        </p:nvSpPr>
        <p:spPr>
          <a:xfrm>
            <a:off x="9436608" y="2779776"/>
            <a:ext cx="283464" cy="0"/>
          </a:xfrm>
          <a:prstGeom prst="line">
            <a:avLst/>
          </a:prstGeom>
          <a:noFill/>
          <a:ln w="17780">
            <a:solidFill>
              <a:srgbClr val="52627E"/>
            </a:solidFill>
            <a:prstDash val="solid"/>
            <a:headEnd type="none"/>
            <a:tailEnd type="triangle"/>
          </a:ln>
        </p:spPr>
      </p:sp>
      <p:sp>
        <p:nvSpPr>
          <p:cNvPr id="28" name="Shape 26"/>
          <p:cNvSpPr/>
          <p:nvPr/>
        </p:nvSpPr>
        <p:spPr>
          <a:xfrm>
            <a:off x="9738360" y="2377440"/>
            <a:ext cx="1234440" cy="804672"/>
          </a:xfrm>
          <a:prstGeom prst="roundRect">
            <a:avLst>
              <a:gd name="adj" fmla="val 7955"/>
            </a:avLst>
          </a:prstGeom>
          <a:solidFill>
            <a:srgbClr val="111B2E"/>
          </a:solidFill>
          <a:ln w="20320">
            <a:solidFill>
              <a:srgbClr val="3B82F6"/>
            </a:solidFill>
            <a:prstDash val="solid"/>
          </a:ln>
        </p:spPr>
      </p:sp>
      <p:sp>
        <p:nvSpPr>
          <p:cNvPr id="29" name="Text 27"/>
          <p:cNvSpPr/>
          <p:nvPr/>
        </p:nvSpPr>
        <p:spPr>
          <a:xfrm>
            <a:off x="9811512" y="2496312"/>
            <a:ext cx="1088136" cy="228600"/>
          </a:xfrm>
          <a:prstGeom prst="rect">
            <a:avLst/>
          </a:prstGeom>
          <a:noFill/>
          <a:ln/>
        </p:spPr>
        <p:txBody>
          <a:bodyPr wrap="square" lIns="0" tIns="0" rIns="0" bIns="0" rtlCol="0" anchor="ctr"/>
          <a:lstStyle/>
          <a:p>
            <a:pPr algn="ctr" indent="0" marL="0">
              <a:buNone/>
            </a:pPr>
            <a:r>
              <a:rPr lang="en-US" sz="1200" b="1" dirty="0">
                <a:solidFill>
                  <a:srgbClr val="F8FAFC"/>
                </a:solidFill>
              </a:rPr>
              <a:t>History</a:t>
            </a:r>
            <a:endParaRPr lang="en-US" sz="1200" dirty="0"/>
          </a:p>
        </p:txBody>
      </p:sp>
      <p:sp>
        <p:nvSpPr>
          <p:cNvPr id="30" name="Text 28"/>
          <p:cNvSpPr/>
          <p:nvPr/>
        </p:nvSpPr>
        <p:spPr>
          <a:xfrm>
            <a:off x="9811512" y="2770632"/>
            <a:ext cx="1088136" cy="219456"/>
          </a:xfrm>
          <a:prstGeom prst="rect">
            <a:avLst/>
          </a:prstGeom>
          <a:noFill/>
          <a:ln/>
        </p:spPr>
        <p:txBody>
          <a:bodyPr wrap="square" lIns="0" tIns="0" rIns="0" bIns="0" rtlCol="0" anchor="ctr"/>
          <a:lstStyle/>
          <a:p>
            <a:pPr algn="ctr" indent="0" marL="0">
              <a:buNone/>
            </a:pPr>
            <a:r>
              <a:rPr lang="en-US" sz="870" dirty="0">
                <a:solidFill>
                  <a:srgbClr val="8EA0BD"/>
                </a:solidFill>
              </a:rPr>
              <a:t>Lưu lịch sử</a:t>
            </a:r>
            <a:endParaRPr lang="en-US" sz="870" dirty="0"/>
          </a:p>
        </p:txBody>
      </p:sp>
      <p:sp>
        <p:nvSpPr>
          <p:cNvPr id="31" name="Shape 29"/>
          <p:cNvSpPr/>
          <p:nvPr/>
        </p:nvSpPr>
        <p:spPr>
          <a:xfrm>
            <a:off x="685800" y="3931920"/>
            <a:ext cx="10835640" cy="1463040"/>
          </a:xfrm>
          <a:prstGeom prst="roundRect">
            <a:avLst>
              <a:gd name="adj" fmla="val 5000"/>
            </a:avLst>
          </a:prstGeom>
          <a:solidFill>
            <a:srgbClr val="111B2E"/>
          </a:solidFill>
          <a:ln w="12700">
            <a:solidFill>
              <a:srgbClr val="213553"/>
            </a:solidFill>
            <a:prstDash val="solid"/>
          </a:ln>
        </p:spPr>
      </p:sp>
      <p:sp>
        <p:nvSpPr>
          <p:cNvPr id="32" name="Text 30"/>
          <p:cNvSpPr/>
          <p:nvPr/>
        </p:nvSpPr>
        <p:spPr>
          <a:xfrm>
            <a:off x="914400" y="4160520"/>
            <a:ext cx="2011680" cy="274320"/>
          </a:xfrm>
          <a:prstGeom prst="rect">
            <a:avLst/>
          </a:prstGeom>
          <a:noFill/>
          <a:ln/>
        </p:spPr>
        <p:txBody>
          <a:bodyPr wrap="square" lIns="0" tIns="0" rIns="0" bIns="0" rtlCol="0" anchor="ctr"/>
          <a:lstStyle/>
          <a:p>
            <a:pPr indent="0" marL="0">
              <a:buNone/>
            </a:pPr>
            <a:r>
              <a:rPr lang="en-US" sz="1400" b="1" dirty="0">
                <a:solidFill>
                  <a:srgbClr val="F8FAFC"/>
                </a:solidFill>
              </a:rPr>
              <a:t>Ví dụ kịch bản demo</a:t>
            </a:r>
            <a:endParaRPr lang="en-US" sz="1400" dirty="0"/>
          </a:p>
        </p:txBody>
      </p:sp>
      <p:sp>
        <p:nvSpPr>
          <p:cNvPr id="33" name="Text 31"/>
          <p:cNvSpPr/>
          <p:nvPr/>
        </p:nvSpPr>
        <p:spPr>
          <a:xfrm>
            <a:off x="914400" y="4553712"/>
            <a:ext cx="10058400" cy="594360"/>
          </a:xfrm>
          <a:prstGeom prst="rect">
            <a:avLst/>
          </a:prstGeom>
          <a:noFill/>
          <a:ln/>
        </p:spPr>
        <p:txBody>
          <a:bodyPr wrap="square" lIns="0" tIns="0" rIns="0" bIns="0" rtlCol="0" anchor="ctr"/>
          <a:lstStyle/>
          <a:p>
            <a:pPr indent="0" marL="0">
              <a:buNone/>
            </a:pPr>
            <a:r>
              <a:rPr lang="en-US" sz="1120" dirty="0">
                <a:solidFill>
                  <a:srgbClr val="D7E0EF"/>
                </a:solidFill>
              </a:rPr>
              <a:t>1) Tạo Asset  →  2) Gắn Vendor/Warranty  →  3) Lập Maintenance Plan  →  4) Sinh/Tạo Work Order  →  5) Dispatcher assign Technician  →  6) Technician Accept/Start/Checklist/Upload ảnh/Complete  →  7) Manager Verify &amp; Close</a:t>
            </a:r>
            <a:endParaRPr lang="en-US" sz="1120" dirty="0"/>
          </a:p>
        </p:txBody>
      </p:sp>
      <p:sp>
        <p:nvSpPr>
          <p:cNvPr id="34" name="Text 32"/>
          <p:cNvSpPr/>
          <p:nvPr/>
        </p:nvSpPr>
        <p:spPr>
          <a:xfrm>
            <a:off x="914400" y="5650992"/>
            <a:ext cx="10058400" cy="292608"/>
          </a:xfrm>
          <a:prstGeom prst="rect">
            <a:avLst/>
          </a:prstGeom>
          <a:noFill/>
          <a:ln/>
        </p:spPr>
        <p:txBody>
          <a:bodyPr wrap="square" lIns="0" tIns="0" rIns="0" bIns="0" rtlCol="0" anchor="ctr"/>
          <a:lstStyle/>
          <a:p>
            <a:pPr algn="ctr" indent="0" marL="0">
              <a:buNone/>
            </a:pPr>
            <a:r>
              <a:rPr lang="en-US" sz="1120" b="1" dirty="0">
                <a:solidFill>
                  <a:srgbClr val="22D3EE"/>
                </a:solidFill>
              </a:rPr>
              <a:t>Điểm nhấn demo bảo mật: thử truy cập Asset/Work Order của tenant khác → hệ thống phải từ chối.</a:t>
            </a:r>
            <a:endParaRPr lang="en-US" sz="1120" dirty="0"/>
          </a:p>
        </p:txBody>
      </p:sp>
      <p:sp>
        <p:nvSpPr>
          <p:cNvPr id="25" name="Slide Number Placeholder 0"/>
          <p:cNvSpPr>
            <a:spLocks noGrp="1"/>
          </p:cNvSpPr>
          <p:nvPr>
            <p:ph type="sldNum" sz="quarter" idx="4294967295"/>
          </p:nvPr>
        </p:nvSpPr>
        <p:spPr>
          <a:xfrm>
            <a:off x="11795760" y="6510528"/>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E8CA8"/>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47472"/>
            <a:ext cx="11064240" cy="457200"/>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6. Kiến trúc hệ thống &amp; công nghệ</a:t>
            </a:r>
            <a:endParaRPr lang="en-US" sz="2600" dirty="0"/>
          </a:p>
        </p:txBody>
      </p:sp>
      <p:sp>
        <p:nvSpPr>
          <p:cNvPr id="3" name="Text 1"/>
          <p:cNvSpPr/>
          <p:nvPr/>
        </p:nvSpPr>
        <p:spPr>
          <a:xfrm>
            <a:off x="512064" y="841248"/>
            <a:ext cx="10972800" cy="310896"/>
          </a:xfrm>
          <a:prstGeom prst="rect">
            <a:avLst/>
          </a:prstGeom>
          <a:noFill/>
          <a:ln/>
        </p:spPr>
        <p:txBody>
          <a:bodyPr wrap="square" lIns="0" tIns="0" rIns="0" bIns="0" rtlCol="0" anchor="ctr"/>
          <a:lstStyle/>
          <a:p>
            <a:pPr indent="0" marL="0">
              <a:buNone/>
            </a:pPr>
            <a:r>
              <a:rPr lang="en-US" sz="1150" dirty="0">
                <a:solidFill>
                  <a:srgbClr val="8EA0BD"/>
                </a:solidFill>
                <a:latin typeface="Aptos" pitchFamily="34" charset="0"/>
                <a:ea typeface="Aptos" pitchFamily="34" charset="-122"/>
                <a:cs typeface="Aptos" pitchFamily="34" charset="-120"/>
              </a:rPr>
              <a:t>Microservices ở mức vừa phải: đủ hiện đại nhưng vẫn phù hợp nhóm 4 người.</a:t>
            </a:r>
            <a:endParaRPr lang="en-US" sz="1150" dirty="0"/>
          </a:p>
        </p:txBody>
      </p:sp>
      <p:sp>
        <p:nvSpPr>
          <p:cNvPr id="4" name="Shape 2"/>
          <p:cNvSpPr/>
          <p:nvPr/>
        </p:nvSpPr>
        <p:spPr>
          <a:xfrm>
            <a:off x="502920" y="1463040"/>
            <a:ext cx="1463040" cy="804672"/>
          </a:xfrm>
          <a:prstGeom prst="roundRect">
            <a:avLst>
              <a:gd name="adj" fmla="val 7955"/>
            </a:avLst>
          </a:prstGeom>
          <a:solidFill>
            <a:srgbClr val="111B2E"/>
          </a:solidFill>
          <a:ln w="20320">
            <a:solidFill>
              <a:srgbClr val="3B82F6"/>
            </a:solidFill>
            <a:prstDash val="solid"/>
          </a:ln>
        </p:spPr>
      </p:sp>
      <p:sp>
        <p:nvSpPr>
          <p:cNvPr id="5" name="Text 3"/>
          <p:cNvSpPr/>
          <p:nvPr/>
        </p:nvSpPr>
        <p:spPr>
          <a:xfrm>
            <a:off x="576072" y="1581912"/>
            <a:ext cx="1316736" cy="228600"/>
          </a:xfrm>
          <a:prstGeom prst="rect">
            <a:avLst/>
          </a:prstGeom>
          <a:noFill/>
          <a:ln/>
        </p:spPr>
        <p:txBody>
          <a:bodyPr wrap="square" lIns="0" tIns="0" rIns="0" bIns="0" rtlCol="0" anchor="ctr"/>
          <a:lstStyle/>
          <a:p>
            <a:pPr algn="ctr" indent="0" marL="0">
              <a:buNone/>
            </a:pPr>
            <a:r>
              <a:rPr lang="en-US" sz="1200" b="1" dirty="0">
                <a:solidFill>
                  <a:srgbClr val="F8FAFC"/>
                </a:solidFill>
              </a:rPr>
              <a:t>Web Admin</a:t>
            </a:r>
            <a:endParaRPr lang="en-US" sz="1200" dirty="0"/>
          </a:p>
        </p:txBody>
      </p:sp>
      <p:sp>
        <p:nvSpPr>
          <p:cNvPr id="6" name="Text 4"/>
          <p:cNvSpPr/>
          <p:nvPr/>
        </p:nvSpPr>
        <p:spPr>
          <a:xfrm>
            <a:off x="576072" y="1856232"/>
            <a:ext cx="1316736" cy="219456"/>
          </a:xfrm>
          <a:prstGeom prst="rect">
            <a:avLst/>
          </a:prstGeom>
          <a:noFill/>
          <a:ln/>
        </p:spPr>
        <p:txBody>
          <a:bodyPr wrap="square" lIns="0" tIns="0" rIns="0" bIns="0" rtlCol="0" anchor="ctr"/>
          <a:lstStyle/>
          <a:p>
            <a:pPr algn="ctr" indent="0" marL="0">
              <a:buNone/>
            </a:pPr>
            <a:r>
              <a:rPr lang="en-US" sz="870" dirty="0">
                <a:solidFill>
                  <a:srgbClr val="8EA0BD"/>
                </a:solidFill>
              </a:rPr>
              <a:t>React + TS</a:t>
            </a:r>
            <a:endParaRPr lang="en-US" sz="870" dirty="0"/>
          </a:p>
        </p:txBody>
      </p:sp>
      <p:sp>
        <p:nvSpPr>
          <p:cNvPr id="7" name="Shape 5"/>
          <p:cNvSpPr/>
          <p:nvPr/>
        </p:nvSpPr>
        <p:spPr>
          <a:xfrm>
            <a:off x="502920" y="2514600"/>
            <a:ext cx="1463040" cy="804672"/>
          </a:xfrm>
          <a:prstGeom prst="roundRect">
            <a:avLst>
              <a:gd name="adj" fmla="val 7955"/>
            </a:avLst>
          </a:prstGeom>
          <a:solidFill>
            <a:srgbClr val="111B2E"/>
          </a:solidFill>
          <a:ln w="20320">
            <a:solidFill>
              <a:srgbClr val="22D3EE"/>
            </a:solidFill>
            <a:prstDash val="solid"/>
          </a:ln>
        </p:spPr>
      </p:sp>
      <p:sp>
        <p:nvSpPr>
          <p:cNvPr id="8" name="Text 6"/>
          <p:cNvSpPr/>
          <p:nvPr/>
        </p:nvSpPr>
        <p:spPr>
          <a:xfrm>
            <a:off x="576072" y="2633472"/>
            <a:ext cx="1316736" cy="228600"/>
          </a:xfrm>
          <a:prstGeom prst="rect">
            <a:avLst/>
          </a:prstGeom>
          <a:noFill/>
          <a:ln/>
        </p:spPr>
        <p:txBody>
          <a:bodyPr wrap="square" lIns="0" tIns="0" rIns="0" bIns="0" rtlCol="0" anchor="ctr"/>
          <a:lstStyle/>
          <a:p>
            <a:pPr algn="ctr" indent="0" marL="0">
              <a:buNone/>
            </a:pPr>
            <a:r>
              <a:rPr lang="en-US" sz="1200" b="1" dirty="0">
                <a:solidFill>
                  <a:srgbClr val="F8FAFC"/>
                </a:solidFill>
              </a:rPr>
              <a:t>Web End-user</a:t>
            </a:r>
            <a:endParaRPr lang="en-US" sz="1200" dirty="0"/>
          </a:p>
        </p:txBody>
      </p:sp>
      <p:sp>
        <p:nvSpPr>
          <p:cNvPr id="9" name="Text 7"/>
          <p:cNvSpPr/>
          <p:nvPr/>
        </p:nvSpPr>
        <p:spPr>
          <a:xfrm>
            <a:off x="576072" y="2907792"/>
            <a:ext cx="1316736" cy="219456"/>
          </a:xfrm>
          <a:prstGeom prst="rect">
            <a:avLst/>
          </a:prstGeom>
          <a:noFill/>
          <a:ln/>
        </p:spPr>
        <p:txBody>
          <a:bodyPr wrap="square" lIns="0" tIns="0" rIns="0" bIns="0" rtlCol="0" anchor="ctr"/>
          <a:lstStyle/>
          <a:p>
            <a:pPr algn="ctr" indent="0" marL="0">
              <a:buNone/>
            </a:pPr>
            <a:r>
              <a:rPr lang="en-US" sz="870" dirty="0">
                <a:solidFill>
                  <a:srgbClr val="8EA0BD"/>
                </a:solidFill>
              </a:rPr>
              <a:t>React + TS</a:t>
            </a:r>
            <a:endParaRPr lang="en-US" sz="870" dirty="0"/>
          </a:p>
        </p:txBody>
      </p:sp>
      <p:sp>
        <p:nvSpPr>
          <p:cNvPr id="10" name="Shape 8"/>
          <p:cNvSpPr/>
          <p:nvPr/>
        </p:nvSpPr>
        <p:spPr>
          <a:xfrm>
            <a:off x="502920" y="3566160"/>
            <a:ext cx="1463040" cy="804672"/>
          </a:xfrm>
          <a:prstGeom prst="roundRect">
            <a:avLst>
              <a:gd name="adj" fmla="val 7955"/>
            </a:avLst>
          </a:prstGeom>
          <a:solidFill>
            <a:srgbClr val="111B2E"/>
          </a:solidFill>
          <a:ln w="20320">
            <a:solidFill>
              <a:srgbClr val="10B981"/>
            </a:solidFill>
            <a:prstDash val="solid"/>
          </a:ln>
        </p:spPr>
      </p:sp>
      <p:sp>
        <p:nvSpPr>
          <p:cNvPr id="11" name="Text 9"/>
          <p:cNvSpPr/>
          <p:nvPr/>
        </p:nvSpPr>
        <p:spPr>
          <a:xfrm>
            <a:off x="576072" y="3685032"/>
            <a:ext cx="1316736" cy="228600"/>
          </a:xfrm>
          <a:prstGeom prst="rect">
            <a:avLst/>
          </a:prstGeom>
          <a:noFill/>
          <a:ln/>
        </p:spPr>
        <p:txBody>
          <a:bodyPr wrap="square" lIns="0" tIns="0" rIns="0" bIns="0" rtlCol="0" anchor="ctr"/>
          <a:lstStyle/>
          <a:p>
            <a:pPr algn="ctr" indent="0" marL="0">
              <a:buNone/>
            </a:pPr>
            <a:r>
              <a:rPr lang="en-US" sz="1200" b="1" dirty="0">
                <a:solidFill>
                  <a:srgbClr val="F8FAFC"/>
                </a:solidFill>
              </a:rPr>
              <a:t>Mobile</a:t>
            </a:r>
            <a:endParaRPr lang="en-US" sz="1200" dirty="0"/>
          </a:p>
        </p:txBody>
      </p:sp>
      <p:sp>
        <p:nvSpPr>
          <p:cNvPr id="12" name="Text 10"/>
          <p:cNvSpPr/>
          <p:nvPr/>
        </p:nvSpPr>
        <p:spPr>
          <a:xfrm>
            <a:off x="576072" y="3959352"/>
            <a:ext cx="1316736" cy="219456"/>
          </a:xfrm>
          <a:prstGeom prst="rect">
            <a:avLst/>
          </a:prstGeom>
          <a:noFill/>
          <a:ln/>
        </p:spPr>
        <p:txBody>
          <a:bodyPr wrap="square" lIns="0" tIns="0" rIns="0" bIns="0" rtlCol="0" anchor="ctr"/>
          <a:lstStyle/>
          <a:p>
            <a:pPr algn="ctr" indent="0" marL="0">
              <a:buNone/>
            </a:pPr>
            <a:r>
              <a:rPr lang="en-US" sz="870" dirty="0">
                <a:solidFill>
                  <a:srgbClr val="8EA0BD"/>
                </a:solidFill>
              </a:rPr>
              <a:t>Flutter</a:t>
            </a:r>
            <a:endParaRPr lang="en-US" sz="870" dirty="0"/>
          </a:p>
        </p:txBody>
      </p:sp>
      <p:sp>
        <p:nvSpPr>
          <p:cNvPr id="13" name="Shape 11"/>
          <p:cNvSpPr/>
          <p:nvPr/>
        </p:nvSpPr>
        <p:spPr>
          <a:xfrm>
            <a:off x="2560320" y="2331720"/>
            <a:ext cx="1600200" cy="1051560"/>
          </a:xfrm>
          <a:prstGeom prst="roundRect">
            <a:avLst>
              <a:gd name="adj" fmla="val 6957"/>
            </a:avLst>
          </a:prstGeom>
          <a:solidFill>
            <a:srgbClr val="132A45"/>
          </a:solidFill>
          <a:ln w="22860">
            <a:solidFill>
              <a:srgbClr val="22D3EE"/>
            </a:solidFill>
            <a:prstDash val="solid"/>
          </a:ln>
        </p:spPr>
      </p:sp>
      <p:sp>
        <p:nvSpPr>
          <p:cNvPr id="14" name="Text 12"/>
          <p:cNvSpPr/>
          <p:nvPr/>
        </p:nvSpPr>
        <p:spPr>
          <a:xfrm>
            <a:off x="2697480" y="2542032"/>
            <a:ext cx="1325880" cy="274320"/>
          </a:xfrm>
          <a:prstGeom prst="rect">
            <a:avLst/>
          </a:prstGeom>
          <a:noFill/>
          <a:ln/>
        </p:spPr>
        <p:txBody>
          <a:bodyPr wrap="square" lIns="0" tIns="0" rIns="0" bIns="0" rtlCol="0" anchor="ctr"/>
          <a:lstStyle/>
          <a:p>
            <a:pPr algn="ctr" indent="0" marL="0">
              <a:buNone/>
            </a:pPr>
            <a:r>
              <a:rPr lang="en-US" sz="1400" b="1" dirty="0">
                <a:solidFill>
                  <a:srgbClr val="F8FAFC"/>
                </a:solidFill>
              </a:rPr>
              <a:t>API Gateway</a:t>
            </a:r>
            <a:endParaRPr lang="en-US" sz="1400" dirty="0"/>
          </a:p>
        </p:txBody>
      </p:sp>
      <p:sp>
        <p:nvSpPr>
          <p:cNvPr id="15" name="Text 13"/>
          <p:cNvSpPr/>
          <p:nvPr/>
        </p:nvSpPr>
        <p:spPr>
          <a:xfrm>
            <a:off x="2770632" y="2907792"/>
            <a:ext cx="1170432" cy="201168"/>
          </a:xfrm>
          <a:prstGeom prst="rect">
            <a:avLst/>
          </a:prstGeom>
          <a:noFill/>
          <a:ln/>
        </p:spPr>
        <p:txBody>
          <a:bodyPr wrap="square" lIns="0" tIns="0" rIns="0" bIns="0" rtlCol="0" anchor="ctr"/>
          <a:lstStyle/>
          <a:p>
            <a:pPr algn="ctr" indent="0" marL="0">
              <a:buNone/>
            </a:pPr>
            <a:r>
              <a:rPr lang="en-US" sz="950" dirty="0">
                <a:solidFill>
                  <a:srgbClr val="8EA0BD"/>
                </a:solidFill>
              </a:rPr>
              <a:t>NestJS</a:t>
            </a:r>
            <a:endParaRPr lang="en-US" sz="950" dirty="0"/>
          </a:p>
        </p:txBody>
      </p:sp>
      <p:sp>
        <p:nvSpPr>
          <p:cNvPr id="16" name="Shape 14"/>
          <p:cNvSpPr/>
          <p:nvPr/>
        </p:nvSpPr>
        <p:spPr>
          <a:xfrm>
            <a:off x="1993392" y="1856232"/>
            <a:ext cx="548640" cy="795528"/>
          </a:xfrm>
          <a:prstGeom prst="line">
            <a:avLst/>
          </a:prstGeom>
          <a:noFill/>
          <a:ln w="15240">
            <a:solidFill>
              <a:srgbClr val="22D3EE"/>
            </a:solidFill>
            <a:prstDash val="solid"/>
            <a:headEnd type="none"/>
            <a:tailEnd type="triangle"/>
          </a:ln>
        </p:spPr>
      </p:sp>
      <p:sp>
        <p:nvSpPr>
          <p:cNvPr id="17" name="Shape 15"/>
          <p:cNvSpPr/>
          <p:nvPr/>
        </p:nvSpPr>
        <p:spPr>
          <a:xfrm>
            <a:off x="1993392" y="2907792"/>
            <a:ext cx="548640" cy="-91440"/>
          </a:xfrm>
          <a:prstGeom prst="line">
            <a:avLst/>
          </a:prstGeom>
          <a:noFill/>
          <a:ln w="15240">
            <a:solidFill>
              <a:srgbClr val="22D3EE"/>
            </a:solidFill>
            <a:prstDash val="solid"/>
            <a:headEnd type="none"/>
            <a:tailEnd type="triangle"/>
          </a:ln>
        </p:spPr>
      </p:sp>
      <p:sp>
        <p:nvSpPr>
          <p:cNvPr id="18" name="Shape 16"/>
          <p:cNvSpPr/>
          <p:nvPr/>
        </p:nvSpPr>
        <p:spPr>
          <a:xfrm>
            <a:off x="1993392" y="3959352"/>
            <a:ext cx="548640" cy="-960120"/>
          </a:xfrm>
          <a:prstGeom prst="line">
            <a:avLst/>
          </a:prstGeom>
          <a:noFill/>
          <a:ln w="15240">
            <a:solidFill>
              <a:srgbClr val="22D3EE"/>
            </a:solidFill>
            <a:prstDash val="solid"/>
            <a:headEnd type="none"/>
            <a:tailEnd type="triangle"/>
          </a:ln>
        </p:spPr>
      </p:sp>
      <p:sp>
        <p:nvSpPr>
          <p:cNvPr id="19" name="Shape 17"/>
          <p:cNvSpPr/>
          <p:nvPr/>
        </p:nvSpPr>
        <p:spPr>
          <a:xfrm>
            <a:off x="4709160" y="1417320"/>
            <a:ext cx="1874520" cy="1005840"/>
          </a:xfrm>
          <a:prstGeom prst="roundRect">
            <a:avLst>
              <a:gd name="adj" fmla="val 5455"/>
            </a:avLst>
          </a:prstGeom>
          <a:solidFill>
            <a:srgbClr val="111B2E"/>
          </a:solidFill>
          <a:ln w="17780">
            <a:solidFill>
              <a:srgbClr val="8B5CF6"/>
            </a:solidFill>
            <a:prstDash val="solid"/>
          </a:ln>
        </p:spPr>
      </p:sp>
      <p:sp>
        <p:nvSpPr>
          <p:cNvPr id="20" name="Text 18"/>
          <p:cNvSpPr/>
          <p:nvPr/>
        </p:nvSpPr>
        <p:spPr>
          <a:xfrm>
            <a:off x="4818888" y="1581912"/>
            <a:ext cx="1655064" cy="246888"/>
          </a:xfrm>
          <a:prstGeom prst="rect">
            <a:avLst/>
          </a:prstGeom>
          <a:noFill/>
          <a:ln/>
        </p:spPr>
        <p:txBody>
          <a:bodyPr wrap="square" lIns="0" tIns="0" rIns="0" bIns="0" rtlCol="0" anchor="ctr"/>
          <a:lstStyle/>
          <a:p>
            <a:pPr algn="ctr" indent="0" marL="0">
              <a:buNone/>
            </a:pPr>
            <a:r>
              <a:rPr lang="en-US" sz="1200" b="1" dirty="0">
                <a:solidFill>
                  <a:srgbClr val="F8FAFC"/>
                </a:solidFill>
              </a:rPr>
              <a:t>Identity Service</a:t>
            </a:r>
            <a:endParaRPr lang="en-US" sz="1200" dirty="0"/>
          </a:p>
        </p:txBody>
      </p:sp>
      <p:sp>
        <p:nvSpPr>
          <p:cNvPr id="21" name="Text 19"/>
          <p:cNvSpPr/>
          <p:nvPr/>
        </p:nvSpPr>
        <p:spPr>
          <a:xfrm>
            <a:off x="4818888" y="1947672"/>
            <a:ext cx="1655064" cy="201168"/>
          </a:xfrm>
          <a:prstGeom prst="rect">
            <a:avLst/>
          </a:prstGeom>
          <a:noFill/>
          <a:ln/>
        </p:spPr>
        <p:txBody>
          <a:bodyPr wrap="square" lIns="0" tIns="0" rIns="0" bIns="0" rtlCol="0" anchor="ctr"/>
          <a:lstStyle/>
          <a:p>
            <a:pPr algn="ctr" indent="0" marL="0">
              <a:buNone/>
            </a:pPr>
            <a:r>
              <a:rPr lang="en-US" sz="880" dirty="0">
                <a:solidFill>
                  <a:srgbClr val="8EA0BD"/>
                </a:solidFill>
              </a:rPr>
              <a:t>identity_db</a:t>
            </a:r>
            <a:endParaRPr lang="en-US" sz="880" dirty="0"/>
          </a:p>
        </p:txBody>
      </p:sp>
      <p:sp>
        <p:nvSpPr>
          <p:cNvPr id="22" name="Shape 20"/>
          <p:cNvSpPr/>
          <p:nvPr/>
        </p:nvSpPr>
        <p:spPr>
          <a:xfrm>
            <a:off x="4169664" y="2834640"/>
            <a:ext cx="493776" cy="-914400"/>
          </a:xfrm>
          <a:prstGeom prst="line">
            <a:avLst/>
          </a:prstGeom>
          <a:noFill/>
          <a:ln w="12700">
            <a:solidFill>
              <a:srgbClr val="52627E"/>
            </a:solidFill>
            <a:prstDash val="solid"/>
            <a:headEnd type="none"/>
            <a:tailEnd type="triangle"/>
          </a:ln>
        </p:spPr>
      </p:sp>
      <p:sp>
        <p:nvSpPr>
          <p:cNvPr id="23" name="Shape 21"/>
          <p:cNvSpPr/>
          <p:nvPr/>
        </p:nvSpPr>
        <p:spPr>
          <a:xfrm>
            <a:off x="6949440" y="1417320"/>
            <a:ext cx="1874520" cy="1005840"/>
          </a:xfrm>
          <a:prstGeom prst="roundRect">
            <a:avLst>
              <a:gd name="adj" fmla="val 5455"/>
            </a:avLst>
          </a:prstGeom>
          <a:solidFill>
            <a:srgbClr val="111B2E"/>
          </a:solidFill>
          <a:ln w="17780">
            <a:solidFill>
              <a:srgbClr val="3B82F6"/>
            </a:solidFill>
            <a:prstDash val="solid"/>
          </a:ln>
        </p:spPr>
      </p:sp>
      <p:sp>
        <p:nvSpPr>
          <p:cNvPr id="24" name="Text 22"/>
          <p:cNvSpPr/>
          <p:nvPr/>
        </p:nvSpPr>
        <p:spPr>
          <a:xfrm>
            <a:off x="7059168" y="1581912"/>
            <a:ext cx="1655064" cy="246888"/>
          </a:xfrm>
          <a:prstGeom prst="rect">
            <a:avLst/>
          </a:prstGeom>
          <a:noFill/>
          <a:ln/>
        </p:spPr>
        <p:txBody>
          <a:bodyPr wrap="square" lIns="0" tIns="0" rIns="0" bIns="0" rtlCol="0" anchor="ctr"/>
          <a:lstStyle/>
          <a:p>
            <a:pPr algn="ctr" indent="0" marL="0">
              <a:buNone/>
            </a:pPr>
            <a:r>
              <a:rPr lang="en-US" sz="1200" b="1" dirty="0">
                <a:solidFill>
                  <a:srgbClr val="F8FAFC"/>
                </a:solidFill>
              </a:rPr>
              <a:t>Asset Service</a:t>
            </a:r>
            <a:endParaRPr lang="en-US" sz="1200" dirty="0"/>
          </a:p>
        </p:txBody>
      </p:sp>
      <p:sp>
        <p:nvSpPr>
          <p:cNvPr id="25" name="Text 23"/>
          <p:cNvSpPr/>
          <p:nvPr/>
        </p:nvSpPr>
        <p:spPr>
          <a:xfrm>
            <a:off x="7059168" y="1947672"/>
            <a:ext cx="1655064" cy="201168"/>
          </a:xfrm>
          <a:prstGeom prst="rect">
            <a:avLst/>
          </a:prstGeom>
          <a:noFill/>
          <a:ln/>
        </p:spPr>
        <p:txBody>
          <a:bodyPr wrap="square" lIns="0" tIns="0" rIns="0" bIns="0" rtlCol="0" anchor="ctr"/>
          <a:lstStyle/>
          <a:p>
            <a:pPr algn="ctr" indent="0" marL="0">
              <a:buNone/>
            </a:pPr>
            <a:r>
              <a:rPr lang="en-US" sz="880" dirty="0">
                <a:solidFill>
                  <a:srgbClr val="8EA0BD"/>
                </a:solidFill>
              </a:rPr>
              <a:t>asset_db</a:t>
            </a:r>
            <a:endParaRPr lang="en-US" sz="880" dirty="0"/>
          </a:p>
        </p:txBody>
      </p:sp>
      <p:sp>
        <p:nvSpPr>
          <p:cNvPr id="26" name="Shape 24"/>
          <p:cNvSpPr/>
          <p:nvPr/>
        </p:nvSpPr>
        <p:spPr>
          <a:xfrm>
            <a:off x="4169664" y="2834640"/>
            <a:ext cx="2734056" cy="-914400"/>
          </a:xfrm>
          <a:prstGeom prst="line">
            <a:avLst/>
          </a:prstGeom>
          <a:noFill/>
          <a:ln w="12700">
            <a:solidFill>
              <a:srgbClr val="52627E"/>
            </a:solidFill>
            <a:prstDash val="solid"/>
            <a:headEnd type="none"/>
            <a:tailEnd type="triangle"/>
          </a:ln>
        </p:spPr>
      </p:sp>
      <p:sp>
        <p:nvSpPr>
          <p:cNvPr id="27" name="Shape 25"/>
          <p:cNvSpPr/>
          <p:nvPr/>
        </p:nvSpPr>
        <p:spPr>
          <a:xfrm>
            <a:off x="9189720" y="1417320"/>
            <a:ext cx="1874520" cy="1005840"/>
          </a:xfrm>
          <a:prstGeom prst="roundRect">
            <a:avLst>
              <a:gd name="adj" fmla="val 5455"/>
            </a:avLst>
          </a:prstGeom>
          <a:solidFill>
            <a:srgbClr val="111B2E"/>
          </a:solidFill>
          <a:ln w="17780">
            <a:solidFill>
              <a:srgbClr val="10B981"/>
            </a:solidFill>
            <a:prstDash val="solid"/>
          </a:ln>
        </p:spPr>
      </p:sp>
      <p:sp>
        <p:nvSpPr>
          <p:cNvPr id="28" name="Text 26"/>
          <p:cNvSpPr/>
          <p:nvPr/>
        </p:nvSpPr>
        <p:spPr>
          <a:xfrm>
            <a:off x="9299448" y="1581912"/>
            <a:ext cx="1655064" cy="246888"/>
          </a:xfrm>
          <a:prstGeom prst="rect">
            <a:avLst/>
          </a:prstGeom>
          <a:noFill/>
          <a:ln/>
        </p:spPr>
        <p:txBody>
          <a:bodyPr wrap="square" lIns="0" tIns="0" rIns="0" bIns="0" rtlCol="0" anchor="ctr"/>
          <a:lstStyle/>
          <a:p>
            <a:pPr algn="ctr" indent="0" marL="0">
              <a:buNone/>
            </a:pPr>
            <a:r>
              <a:rPr lang="en-US" sz="1200" b="1" dirty="0">
                <a:solidFill>
                  <a:srgbClr val="F8FAFC"/>
                </a:solidFill>
              </a:rPr>
              <a:t>Maintenance Service</a:t>
            </a:r>
            <a:endParaRPr lang="en-US" sz="1200" dirty="0"/>
          </a:p>
        </p:txBody>
      </p:sp>
      <p:sp>
        <p:nvSpPr>
          <p:cNvPr id="29" name="Text 27"/>
          <p:cNvSpPr/>
          <p:nvPr/>
        </p:nvSpPr>
        <p:spPr>
          <a:xfrm>
            <a:off x="9299448" y="1947672"/>
            <a:ext cx="1655064" cy="201168"/>
          </a:xfrm>
          <a:prstGeom prst="rect">
            <a:avLst/>
          </a:prstGeom>
          <a:noFill/>
          <a:ln/>
        </p:spPr>
        <p:txBody>
          <a:bodyPr wrap="square" lIns="0" tIns="0" rIns="0" bIns="0" rtlCol="0" anchor="ctr"/>
          <a:lstStyle/>
          <a:p>
            <a:pPr algn="ctr" indent="0" marL="0">
              <a:buNone/>
            </a:pPr>
            <a:r>
              <a:rPr lang="en-US" sz="880" dirty="0">
                <a:solidFill>
                  <a:srgbClr val="8EA0BD"/>
                </a:solidFill>
              </a:rPr>
              <a:t>maintenance_db</a:t>
            </a:r>
            <a:endParaRPr lang="en-US" sz="880" dirty="0"/>
          </a:p>
        </p:txBody>
      </p:sp>
      <p:sp>
        <p:nvSpPr>
          <p:cNvPr id="30" name="Shape 28"/>
          <p:cNvSpPr/>
          <p:nvPr/>
        </p:nvSpPr>
        <p:spPr>
          <a:xfrm>
            <a:off x="4169664" y="2834640"/>
            <a:ext cx="4974336" cy="-914400"/>
          </a:xfrm>
          <a:prstGeom prst="line">
            <a:avLst/>
          </a:prstGeom>
          <a:noFill/>
          <a:ln w="12700">
            <a:solidFill>
              <a:srgbClr val="52627E"/>
            </a:solidFill>
            <a:prstDash val="solid"/>
            <a:headEnd type="none"/>
            <a:tailEnd type="triangle"/>
          </a:ln>
        </p:spPr>
      </p:sp>
      <p:sp>
        <p:nvSpPr>
          <p:cNvPr id="31" name="Shape 29"/>
          <p:cNvSpPr/>
          <p:nvPr/>
        </p:nvSpPr>
        <p:spPr>
          <a:xfrm>
            <a:off x="4709160" y="3383280"/>
            <a:ext cx="1874520" cy="1005840"/>
          </a:xfrm>
          <a:prstGeom prst="roundRect">
            <a:avLst>
              <a:gd name="adj" fmla="val 5455"/>
            </a:avLst>
          </a:prstGeom>
          <a:solidFill>
            <a:srgbClr val="111B2E"/>
          </a:solidFill>
          <a:ln w="17780">
            <a:solidFill>
              <a:srgbClr val="EF4444"/>
            </a:solidFill>
            <a:prstDash val="solid"/>
          </a:ln>
        </p:spPr>
      </p:sp>
      <p:sp>
        <p:nvSpPr>
          <p:cNvPr id="32" name="Text 30"/>
          <p:cNvSpPr/>
          <p:nvPr/>
        </p:nvSpPr>
        <p:spPr>
          <a:xfrm>
            <a:off x="4818888" y="3547872"/>
            <a:ext cx="1655064" cy="246888"/>
          </a:xfrm>
          <a:prstGeom prst="rect">
            <a:avLst/>
          </a:prstGeom>
          <a:noFill/>
          <a:ln/>
        </p:spPr>
        <p:txBody>
          <a:bodyPr wrap="square" lIns="0" tIns="0" rIns="0" bIns="0" rtlCol="0" anchor="ctr"/>
          <a:lstStyle/>
          <a:p>
            <a:pPr algn="ctr" indent="0" marL="0">
              <a:buNone/>
            </a:pPr>
            <a:r>
              <a:rPr lang="en-US" sz="1200" b="1" dirty="0">
                <a:solidFill>
                  <a:srgbClr val="F8FAFC"/>
                </a:solidFill>
              </a:rPr>
              <a:t>WorkOrder Service</a:t>
            </a:r>
            <a:endParaRPr lang="en-US" sz="1200" dirty="0"/>
          </a:p>
        </p:txBody>
      </p:sp>
      <p:sp>
        <p:nvSpPr>
          <p:cNvPr id="33" name="Text 31"/>
          <p:cNvSpPr/>
          <p:nvPr/>
        </p:nvSpPr>
        <p:spPr>
          <a:xfrm>
            <a:off x="4818888" y="3913632"/>
            <a:ext cx="1655064" cy="201168"/>
          </a:xfrm>
          <a:prstGeom prst="rect">
            <a:avLst/>
          </a:prstGeom>
          <a:noFill/>
          <a:ln/>
        </p:spPr>
        <p:txBody>
          <a:bodyPr wrap="square" lIns="0" tIns="0" rIns="0" bIns="0" rtlCol="0" anchor="ctr"/>
          <a:lstStyle/>
          <a:p>
            <a:pPr algn="ctr" indent="0" marL="0">
              <a:buNone/>
            </a:pPr>
            <a:r>
              <a:rPr lang="en-US" sz="880" dirty="0">
                <a:solidFill>
                  <a:srgbClr val="8EA0BD"/>
                </a:solidFill>
              </a:rPr>
              <a:t>workorder_db</a:t>
            </a:r>
            <a:endParaRPr lang="en-US" sz="880" dirty="0"/>
          </a:p>
        </p:txBody>
      </p:sp>
      <p:sp>
        <p:nvSpPr>
          <p:cNvPr id="34" name="Shape 32"/>
          <p:cNvSpPr/>
          <p:nvPr/>
        </p:nvSpPr>
        <p:spPr>
          <a:xfrm>
            <a:off x="4169664" y="2834640"/>
            <a:ext cx="493776" cy="1051560"/>
          </a:xfrm>
          <a:prstGeom prst="line">
            <a:avLst/>
          </a:prstGeom>
          <a:noFill/>
          <a:ln w="12700">
            <a:solidFill>
              <a:srgbClr val="52627E"/>
            </a:solidFill>
            <a:prstDash val="solid"/>
            <a:headEnd type="none"/>
            <a:tailEnd type="triangle"/>
          </a:ln>
        </p:spPr>
      </p:sp>
      <p:sp>
        <p:nvSpPr>
          <p:cNvPr id="35" name="Shape 33"/>
          <p:cNvSpPr/>
          <p:nvPr/>
        </p:nvSpPr>
        <p:spPr>
          <a:xfrm>
            <a:off x="6949440" y="3383280"/>
            <a:ext cx="1874520" cy="1005840"/>
          </a:xfrm>
          <a:prstGeom prst="roundRect">
            <a:avLst>
              <a:gd name="adj" fmla="val 5455"/>
            </a:avLst>
          </a:prstGeom>
          <a:solidFill>
            <a:srgbClr val="111B2E"/>
          </a:solidFill>
          <a:ln w="17780">
            <a:solidFill>
              <a:srgbClr val="F59E0B"/>
            </a:solidFill>
            <a:prstDash val="solid"/>
          </a:ln>
        </p:spPr>
      </p:sp>
      <p:sp>
        <p:nvSpPr>
          <p:cNvPr id="36" name="Text 34"/>
          <p:cNvSpPr/>
          <p:nvPr/>
        </p:nvSpPr>
        <p:spPr>
          <a:xfrm>
            <a:off x="7059168" y="3547872"/>
            <a:ext cx="1655064" cy="246888"/>
          </a:xfrm>
          <a:prstGeom prst="rect">
            <a:avLst/>
          </a:prstGeom>
          <a:noFill/>
          <a:ln/>
        </p:spPr>
        <p:txBody>
          <a:bodyPr wrap="square" lIns="0" tIns="0" rIns="0" bIns="0" rtlCol="0" anchor="ctr"/>
          <a:lstStyle/>
          <a:p>
            <a:pPr algn="ctr" indent="0" marL="0">
              <a:buNone/>
            </a:pPr>
            <a:r>
              <a:rPr lang="en-US" sz="1200" b="1" dirty="0">
                <a:solidFill>
                  <a:srgbClr val="F8FAFC"/>
                </a:solidFill>
              </a:rPr>
              <a:t>Notification Service</a:t>
            </a:r>
            <a:endParaRPr lang="en-US" sz="1200" dirty="0"/>
          </a:p>
        </p:txBody>
      </p:sp>
      <p:sp>
        <p:nvSpPr>
          <p:cNvPr id="37" name="Text 35"/>
          <p:cNvSpPr/>
          <p:nvPr/>
        </p:nvSpPr>
        <p:spPr>
          <a:xfrm>
            <a:off x="7059168" y="3913632"/>
            <a:ext cx="1655064" cy="201168"/>
          </a:xfrm>
          <a:prstGeom prst="rect">
            <a:avLst/>
          </a:prstGeom>
          <a:noFill/>
          <a:ln/>
        </p:spPr>
        <p:txBody>
          <a:bodyPr wrap="square" lIns="0" tIns="0" rIns="0" bIns="0" rtlCol="0" anchor="ctr"/>
          <a:lstStyle/>
          <a:p>
            <a:pPr algn="ctr" indent="0" marL="0">
              <a:buNone/>
            </a:pPr>
            <a:r>
              <a:rPr lang="en-US" sz="880" dirty="0">
                <a:solidFill>
                  <a:srgbClr val="8EA0BD"/>
                </a:solidFill>
              </a:rPr>
              <a:t>notification_db</a:t>
            </a:r>
            <a:endParaRPr lang="en-US" sz="880" dirty="0"/>
          </a:p>
        </p:txBody>
      </p:sp>
      <p:sp>
        <p:nvSpPr>
          <p:cNvPr id="38" name="Shape 36"/>
          <p:cNvSpPr/>
          <p:nvPr/>
        </p:nvSpPr>
        <p:spPr>
          <a:xfrm>
            <a:off x="4169664" y="2834640"/>
            <a:ext cx="2734056" cy="1051560"/>
          </a:xfrm>
          <a:prstGeom prst="line">
            <a:avLst/>
          </a:prstGeom>
          <a:noFill/>
          <a:ln w="12700">
            <a:solidFill>
              <a:srgbClr val="52627E"/>
            </a:solidFill>
            <a:prstDash val="solid"/>
            <a:headEnd type="none"/>
            <a:tailEnd type="triangle"/>
          </a:ln>
        </p:spPr>
      </p:sp>
      <p:sp>
        <p:nvSpPr>
          <p:cNvPr id="39" name="Shape 37"/>
          <p:cNvSpPr/>
          <p:nvPr/>
        </p:nvSpPr>
        <p:spPr>
          <a:xfrm>
            <a:off x="4709160" y="4983480"/>
            <a:ext cx="1417320" cy="329184"/>
          </a:xfrm>
          <a:prstGeom prst="roundRect">
            <a:avLst>
              <a:gd name="adj" fmla="val 33333"/>
            </a:avLst>
          </a:prstGeom>
          <a:solidFill>
            <a:srgbClr val="3B82F6"/>
          </a:solidFill>
          <a:ln w="12700">
            <a:solidFill>
              <a:srgbClr val="3B82F6"/>
            </a:solidFill>
            <a:prstDash val="solid"/>
          </a:ln>
        </p:spPr>
      </p:sp>
      <p:sp>
        <p:nvSpPr>
          <p:cNvPr id="40" name="Text 38"/>
          <p:cNvSpPr/>
          <p:nvPr/>
        </p:nvSpPr>
        <p:spPr>
          <a:xfrm>
            <a:off x="4709160" y="5010912"/>
            <a:ext cx="1417320" cy="201168"/>
          </a:xfrm>
          <a:prstGeom prst="rect">
            <a:avLst/>
          </a:prstGeom>
          <a:noFill/>
          <a:ln/>
        </p:spPr>
        <p:txBody>
          <a:bodyPr wrap="square" lIns="0" tIns="0" rIns="0" bIns="0" rtlCol="0" anchor="ctr"/>
          <a:lstStyle/>
          <a:p>
            <a:pPr algn="ctr" indent="0" marL="0">
              <a:buNone/>
            </a:pPr>
            <a:r>
              <a:rPr lang="en-US" sz="950" b="1" dirty="0">
                <a:solidFill>
                  <a:srgbClr val="0B1220"/>
                </a:solidFill>
              </a:rPr>
              <a:t>PostgreSQL</a:t>
            </a:r>
            <a:endParaRPr lang="en-US" sz="950" dirty="0"/>
          </a:p>
        </p:txBody>
      </p:sp>
      <p:sp>
        <p:nvSpPr>
          <p:cNvPr id="41" name="Shape 39"/>
          <p:cNvSpPr/>
          <p:nvPr/>
        </p:nvSpPr>
        <p:spPr>
          <a:xfrm>
            <a:off x="6309360" y="4983480"/>
            <a:ext cx="1417320" cy="329184"/>
          </a:xfrm>
          <a:prstGeom prst="roundRect">
            <a:avLst>
              <a:gd name="adj" fmla="val 33333"/>
            </a:avLst>
          </a:prstGeom>
          <a:solidFill>
            <a:srgbClr val="F59E0B"/>
          </a:solidFill>
          <a:ln w="12700">
            <a:solidFill>
              <a:srgbClr val="F59E0B"/>
            </a:solidFill>
            <a:prstDash val="solid"/>
          </a:ln>
        </p:spPr>
      </p:sp>
      <p:sp>
        <p:nvSpPr>
          <p:cNvPr id="42" name="Text 40"/>
          <p:cNvSpPr/>
          <p:nvPr/>
        </p:nvSpPr>
        <p:spPr>
          <a:xfrm>
            <a:off x="6309360" y="5010912"/>
            <a:ext cx="1417320" cy="201168"/>
          </a:xfrm>
          <a:prstGeom prst="rect">
            <a:avLst/>
          </a:prstGeom>
          <a:noFill/>
          <a:ln/>
        </p:spPr>
        <p:txBody>
          <a:bodyPr wrap="square" lIns="0" tIns="0" rIns="0" bIns="0" rtlCol="0" anchor="ctr"/>
          <a:lstStyle/>
          <a:p>
            <a:pPr algn="ctr" indent="0" marL="0">
              <a:buNone/>
            </a:pPr>
            <a:r>
              <a:rPr lang="en-US" sz="950" b="1" dirty="0">
                <a:solidFill>
                  <a:srgbClr val="0B1220"/>
                </a:solidFill>
              </a:rPr>
              <a:t>RabbitMQ</a:t>
            </a:r>
            <a:endParaRPr lang="en-US" sz="950" dirty="0"/>
          </a:p>
        </p:txBody>
      </p:sp>
      <p:sp>
        <p:nvSpPr>
          <p:cNvPr id="43" name="Shape 41"/>
          <p:cNvSpPr/>
          <p:nvPr/>
        </p:nvSpPr>
        <p:spPr>
          <a:xfrm>
            <a:off x="7909560" y="4983480"/>
            <a:ext cx="1143000" cy="329184"/>
          </a:xfrm>
          <a:prstGeom prst="roundRect">
            <a:avLst>
              <a:gd name="adj" fmla="val 33333"/>
            </a:avLst>
          </a:prstGeom>
          <a:solidFill>
            <a:srgbClr val="EF4444"/>
          </a:solidFill>
          <a:ln w="12700">
            <a:solidFill>
              <a:srgbClr val="EF4444"/>
            </a:solidFill>
            <a:prstDash val="solid"/>
          </a:ln>
        </p:spPr>
      </p:sp>
      <p:sp>
        <p:nvSpPr>
          <p:cNvPr id="44" name="Text 42"/>
          <p:cNvSpPr/>
          <p:nvPr/>
        </p:nvSpPr>
        <p:spPr>
          <a:xfrm>
            <a:off x="7909560" y="5010912"/>
            <a:ext cx="1143000" cy="201168"/>
          </a:xfrm>
          <a:prstGeom prst="rect">
            <a:avLst/>
          </a:prstGeom>
          <a:noFill/>
          <a:ln/>
        </p:spPr>
        <p:txBody>
          <a:bodyPr wrap="square" lIns="0" tIns="0" rIns="0" bIns="0" rtlCol="0" anchor="ctr"/>
          <a:lstStyle/>
          <a:p>
            <a:pPr algn="ctr" indent="0" marL="0">
              <a:buNone/>
            </a:pPr>
            <a:r>
              <a:rPr lang="en-US" sz="950" b="1" dirty="0">
                <a:solidFill>
                  <a:srgbClr val="0B1220"/>
                </a:solidFill>
              </a:rPr>
              <a:t>Redis</a:t>
            </a:r>
            <a:endParaRPr lang="en-US" sz="950" dirty="0"/>
          </a:p>
        </p:txBody>
      </p:sp>
      <p:sp>
        <p:nvSpPr>
          <p:cNvPr id="45" name="Shape 43"/>
          <p:cNvSpPr/>
          <p:nvPr/>
        </p:nvSpPr>
        <p:spPr>
          <a:xfrm>
            <a:off x="9235440" y="4983480"/>
            <a:ext cx="1143000" cy="329184"/>
          </a:xfrm>
          <a:prstGeom prst="roundRect">
            <a:avLst>
              <a:gd name="adj" fmla="val 33333"/>
            </a:avLst>
          </a:prstGeom>
          <a:solidFill>
            <a:srgbClr val="10B981"/>
          </a:solidFill>
          <a:ln w="12700">
            <a:solidFill>
              <a:srgbClr val="10B981"/>
            </a:solidFill>
            <a:prstDash val="solid"/>
          </a:ln>
        </p:spPr>
      </p:sp>
      <p:sp>
        <p:nvSpPr>
          <p:cNvPr id="46" name="Text 44"/>
          <p:cNvSpPr/>
          <p:nvPr/>
        </p:nvSpPr>
        <p:spPr>
          <a:xfrm>
            <a:off x="9235440" y="5010912"/>
            <a:ext cx="1143000" cy="201168"/>
          </a:xfrm>
          <a:prstGeom prst="rect">
            <a:avLst/>
          </a:prstGeom>
          <a:noFill/>
          <a:ln/>
        </p:spPr>
        <p:txBody>
          <a:bodyPr wrap="square" lIns="0" tIns="0" rIns="0" bIns="0" rtlCol="0" anchor="ctr"/>
          <a:lstStyle/>
          <a:p>
            <a:pPr algn="ctr" indent="0" marL="0">
              <a:buNone/>
            </a:pPr>
            <a:r>
              <a:rPr lang="en-US" sz="950" b="1" dirty="0">
                <a:solidFill>
                  <a:srgbClr val="0B1220"/>
                </a:solidFill>
              </a:rPr>
              <a:t>MinIO</a:t>
            </a:r>
            <a:endParaRPr lang="en-US" sz="950" dirty="0"/>
          </a:p>
        </p:txBody>
      </p:sp>
      <p:sp>
        <p:nvSpPr>
          <p:cNvPr id="47" name="Shape 45"/>
          <p:cNvSpPr/>
          <p:nvPr/>
        </p:nvSpPr>
        <p:spPr>
          <a:xfrm>
            <a:off x="10561320" y="4983480"/>
            <a:ext cx="1051560" cy="329184"/>
          </a:xfrm>
          <a:prstGeom prst="roundRect">
            <a:avLst>
              <a:gd name="adj" fmla="val 33333"/>
            </a:avLst>
          </a:prstGeom>
          <a:solidFill>
            <a:srgbClr val="22D3EE"/>
          </a:solidFill>
          <a:ln w="12700">
            <a:solidFill>
              <a:srgbClr val="22D3EE"/>
            </a:solidFill>
            <a:prstDash val="solid"/>
          </a:ln>
        </p:spPr>
      </p:sp>
      <p:sp>
        <p:nvSpPr>
          <p:cNvPr id="48" name="Text 46"/>
          <p:cNvSpPr/>
          <p:nvPr/>
        </p:nvSpPr>
        <p:spPr>
          <a:xfrm>
            <a:off x="10561320" y="5010912"/>
            <a:ext cx="1051560" cy="201168"/>
          </a:xfrm>
          <a:prstGeom prst="rect">
            <a:avLst/>
          </a:prstGeom>
          <a:noFill/>
          <a:ln/>
        </p:spPr>
        <p:txBody>
          <a:bodyPr wrap="square" lIns="0" tIns="0" rIns="0" bIns="0" rtlCol="0" anchor="ctr"/>
          <a:lstStyle/>
          <a:p>
            <a:pPr algn="ctr" indent="0" marL="0">
              <a:buNone/>
            </a:pPr>
            <a:r>
              <a:rPr lang="en-US" sz="950" b="1" dirty="0">
                <a:solidFill>
                  <a:srgbClr val="0B1220"/>
                </a:solidFill>
              </a:rPr>
              <a:t>Docker</a:t>
            </a:r>
            <a:endParaRPr lang="en-US" sz="950" dirty="0"/>
          </a:p>
        </p:txBody>
      </p:sp>
      <p:sp>
        <p:nvSpPr>
          <p:cNvPr id="49" name="Text 47"/>
          <p:cNvSpPr/>
          <p:nvPr/>
        </p:nvSpPr>
        <p:spPr>
          <a:xfrm>
            <a:off x="4389120" y="5650992"/>
            <a:ext cx="7223760" cy="384048"/>
          </a:xfrm>
          <a:prstGeom prst="rect">
            <a:avLst/>
          </a:prstGeom>
          <a:noFill/>
          <a:ln/>
        </p:spPr>
        <p:txBody>
          <a:bodyPr wrap="square" lIns="0" tIns="0" rIns="0" bIns="0" rtlCol="0" anchor="ctr"/>
          <a:lstStyle/>
          <a:p>
            <a:pPr algn="ctr" indent="0" marL="0">
              <a:buNone/>
            </a:pPr>
            <a:r>
              <a:rPr lang="en-US" sz="1070" b="1" dirty="0">
                <a:solidFill>
                  <a:srgbClr val="D7E0EF"/>
                </a:solidFill>
              </a:rPr>
              <a:t>Nguyên tắc: Database-per-Service • REST cho đồng bộ • Event/RabbitMQ cho bất đồng bộ • Không FK xuyên service</a:t>
            </a:r>
            <a:endParaRPr lang="en-US" sz="1070" dirty="0"/>
          </a:p>
        </p:txBody>
      </p:sp>
      <p:sp>
        <p:nvSpPr>
          <p:cNvPr id="25" name="Slide Number Placeholder 0"/>
          <p:cNvSpPr>
            <a:spLocks noGrp="1"/>
          </p:cNvSpPr>
          <p:nvPr>
            <p:ph type="sldNum" sz="quarter" idx="4294967295"/>
          </p:nvPr>
        </p:nvSpPr>
        <p:spPr>
          <a:xfrm>
            <a:off x="11795760" y="6510528"/>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E8CA8"/>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47472"/>
            <a:ext cx="11064240" cy="457200"/>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7. Kế hoạch triển khai &amp; kết quả dự kiến</a:t>
            </a:r>
            <a:endParaRPr lang="en-US" sz="2600" dirty="0"/>
          </a:p>
        </p:txBody>
      </p:sp>
      <p:sp>
        <p:nvSpPr>
          <p:cNvPr id="3" name="Text 1"/>
          <p:cNvSpPr/>
          <p:nvPr/>
        </p:nvSpPr>
        <p:spPr>
          <a:xfrm>
            <a:off x="512064" y="841248"/>
            <a:ext cx="10972800" cy="310896"/>
          </a:xfrm>
          <a:prstGeom prst="rect">
            <a:avLst/>
          </a:prstGeom>
          <a:noFill/>
          <a:ln/>
        </p:spPr>
        <p:txBody>
          <a:bodyPr wrap="square" lIns="0" tIns="0" rIns="0" bIns="0" rtlCol="0" anchor="ctr"/>
          <a:lstStyle/>
          <a:p>
            <a:pPr indent="0" marL="0">
              <a:buNone/>
            </a:pPr>
            <a:r>
              <a:rPr lang="en-US" sz="1150" dirty="0">
                <a:solidFill>
                  <a:srgbClr val="8EA0BD"/>
                </a:solidFill>
                <a:latin typeface="Aptos" pitchFamily="34" charset="0"/>
                <a:ea typeface="Aptos" pitchFamily="34" charset="-122"/>
                <a:cs typeface="Aptos" pitchFamily="34" charset="-120"/>
              </a:rPr>
              <a:t>Phát triển theo Sprint, ưu tiên core workflow trước tính năng nâng cao.</a:t>
            </a:r>
            <a:endParaRPr lang="en-US" sz="1150" dirty="0"/>
          </a:p>
        </p:txBody>
      </p:sp>
      <p:sp>
        <p:nvSpPr>
          <p:cNvPr id="4" name="Shape 2"/>
          <p:cNvSpPr/>
          <p:nvPr/>
        </p:nvSpPr>
        <p:spPr>
          <a:xfrm>
            <a:off x="502920" y="1600200"/>
            <a:ext cx="1664208" cy="1417320"/>
          </a:xfrm>
          <a:prstGeom prst="roundRect">
            <a:avLst>
              <a:gd name="adj" fmla="val 3871"/>
            </a:avLst>
          </a:prstGeom>
          <a:solidFill>
            <a:srgbClr val="111B2E"/>
          </a:solidFill>
          <a:ln w="15240">
            <a:solidFill>
              <a:srgbClr val="22D3EE"/>
            </a:solidFill>
            <a:prstDash val="solid"/>
          </a:ln>
        </p:spPr>
      </p:sp>
      <p:sp>
        <p:nvSpPr>
          <p:cNvPr id="5" name="Text 3"/>
          <p:cNvSpPr/>
          <p:nvPr/>
        </p:nvSpPr>
        <p:spPr>
          <a:xfrm>
            <a:off x="594360" y="1764792"/>
            <a:ext cx="1481328" cy="210312"/>
          </a:xfrm>
          <a:prstGeom prst="rect">
            <a:avLst/>
          </a:prstGeom>
          <a:noFill/>
          <a:ln/>
        </p:spPr>
        <p:txBody>
          <a:bodyPr wrap="square" lIns="0" tIns="0" rIns="0" bIns="0" rtlCol="0" anchor="ctr"/>
          <a:lstStyle/>
          <a:p>
            <a:pPr algn="ctr" indent="0" marL="0">
              <a:buNone/>
            </a:pPr>
            <a:r>
              <a:rPr lang="en-US" sz="1020" b="1" dirty="0">
                <a:solidFill>
                  <a:srgbClr val="22D3EE"/>
                </a:solidFill>
              </a:rPr>
              <a:t>Sprint 0–1</a:t>
            </a:r>
            <a:endParaRPr lang="en-US" sz="1020" dirty="0"/>
          </a:p>
        </p:txBody>
      </p:sp>
      <p:sp>
        <p:nvSpPr>
          <p:cNvPr id="6" name="Text 4"/>
          <p:cNvSpPr/>
          <p:nvPr/>
        </p:nvSpPr>
        <p:spPr>
          <a:xfrm>
            <a:off x="594360" y="2084832"/>
            <a:ext cx="1481328" cy="246888"/>
          </a:xfrm>
          <a:prstGeom prst="rect">
            <a:avLst/>
          </a:prstGeom>
          <a:noFill/>
          <a:ln/>
        </p:spPr>
        <p:txBody>
          <a:bodyPr wrap="square" lIns="0" tIns="0" rIns="0" bIns="0" rtlCol="0" anchor="ctr"/>
          <a:lstStyle/>
          <a:p>
            <a:pPr algn="ctr" indent="0" marL="0">
              <a:buNone/>
            </a:pPr>
            <a:r>
              <a:rPr lang="en-US" sz="1300" b="1" dirty="0">
                <a:solidFill>
                  <a:srgbClr val="F8FAFC"/>
                </a:solidFill>
              </a:rPr>
              <a:t>Foundation</a:t>
            </a:r>
            <a:endParaRPr lang="en-US" sz="1300" dirty="0"/>
          </a:p>
        </p:txBody>
      </p:sp>
      <p:sp>
        <p:nvSpPr>
          <p:cNvPr id="7" name="Text 5"/>
          <p:cNvSpPr/>
          <p:nvPr/>
        </p:nvSpPr>
        <p:spPr>
          <a:xfrm>
            <a:off x="612648" y="2441448"/>
            <a:ext cx="1444752" cy="365760"/>
          </a:xfrm>
          <a:prstGeom prst="rect">
            <a:avLst/>
          </a:prstGeom>
          <a:noFill/>
          <a:ln/>
        </p:spPr>
        <p:txBody>
          <a:bodyPr wrap="square" lIns="0" tIns="0" rIns="0" bIns="0" rtlCol="0" anchor="ctr"/>
          <a:lstStyle/>
          <a:p>
            <a:pPr algn="ctr" indent="0" marL="0">
              <a:buNone/>
            </a:pPr>
            <a:r>
              <a:rPr lang="en-US" sz="850" dirty="0">
                <a:solidFill>
                  <a:srgbClr val="8EA0BD"/>
                </a:solidFill>
              </a:rPr>
              <a:t>Repo • Docker • Auth • Tenant</a:t>
            </a:r>
            <a:endParaRPr lang="en-US" sz="850" dirty="0"/>
          </a:p>
        </p:txBody>
      </p:sp>
      <p:sp>
        <p:nvSpPr>
          <p:cNvPr id="8" name="Shape 6"/>
          <p:cNvSpPr/>
          <p:nvPr/>
        </p:nvSpPr>
        <p:spPr>
          <a:xfrm>
            <a:off x="2404872" y="1600200"/>
            <a:ext cx="1664208" cy="1417320"/>
          </a:xfrm>
          <a:prstGeom prst="roundRect">
            <a:avLst>
              <a:gd name="adj" fmla="val 3871"/>
            </a:avLst>
          </a:prstGeom>
          <a:solidFill>
            <a:srgbClr val="111B2E"/>
          </a:solidFill>
          <a:ln w="15240">
            <a:solidFill>
              <a:srgbClr val="3B82F6"/>
            </a:solidFill>
            <a:prstDash val="solid"/>
          </a:ln>
        </p:spPr>
      </p:sp>
      <p:sp>
        <p:nvSpPr>
          <p:cNvPr id="9" name="Text 7"/>
          <p:cNvSpPr/>
          <p:nvPr/>
        </p:nvSpPr>
        <p:spPr>
          <a:xfrm>
            <a:off x="2496312" y="1764792"/>
            <a:ext cx="1481328" cy="210312"/>
          </a:xfrm>
          <a:prstGeom prst="rect">
            <a:avLst/>
          </a:prstGeom>
          <a:noFill/>
          <a:ln/>
        </p:spPr>
        <p:txBody>
          <a:bodyPr wrap="square" lIns="0" tIns="0" rIns="0" bIns="0" rtlCol="0" anchor="ctr"/>
          <a:lstStyle/>
          <a:p>
            <a:pPr algn="ctr" indent="0" marL="0">
              <a:buNone/>
            </a:pPr>
            <a:r>
              <a:rPr lang="en-US" sz="1020" b="1" dirty="0">
                <a:solidFill>
                  <a:srgbClr val="3B82F6"/>
                </a:solidFill>
              </a:rPr>
              <a:t>Sprint 2</a:t>
            </a:r>
            <a:endParaRPr lang="en-US" sz="1020" dirty="0"/>
          </a:p>
        </p:txBody>
      </p:sp>
      <p:sp>
        <p:nvSpPr>
          <p:cNvPr id="10" name="Text 8"/>
          <p:cNvSpPr/>
          <p:nvPr/>
        </p:nvSpPr>
        <p:spPr>
          <a:xfrm>
            <a:off x="2496312" y="2084832"/>
            <a:ext cx="1481328" cy="246888"/>
          </a:xfrm>
          <a:prstGeom prst="rect">
            <a:avLst/>
          </a:prstGeom>
          <a:noFill/>
          <a:ln/>
        </p:spPr>
        <p:txBody>
          <a:bodyPr wrap="square" lIns="0" tIns="0" rIns="0" bIns="0" rtlCol="0" anchor="ctr"/>
          <a:lstStyle/>
          <a:p>
            <a:pPr algn="ctr" indent="0" marL="0">
              <a:buNone/>
            </a:pPr>
            <a:r>
              <a:rPr lang="en-US" sz="1300" b="1" dirty="0">
                <a:solidFill>
                  <a:srgbClr val="F8FAFC"/>
                </a:solidFill>
              </a:rPr>
              <a:t>Asset</a:t>
            </a:r>
            <a:endParaRPr lang="en-US" sz="1300" dirty="0"/>
          </a:p>
        </p:txBody>
      </p:sp>
      <p:sp>
        <p:nvSpPr>
          <p:cNvPr id="11" name="Text 9"/>
          <p:cNvSpPr/>
          <p:nvPr/>
        </p:nvSpPr>
        <p:spPr>
          <a:xfrm>
            <a:off x="2514600" y="2441448"/>
            <a:ext cx="1444752" cy="365760"/>
          </a:xfrm>
          <a:prstGeom prst="rect">
            <a:avLst/>
          </a:prstGeom>
          <a:noFill/>
          <a:ln/>
        </p:spPr>
        <p:txBody>
          <a:bodyPr wrap="square" lIns="0" tIns="0" rIns="0" bIns="0" rtlCol="0" anchor="ctr"/>
          <a:lstStyle/>
          <a:p>
            <a:pPr algn="ctr" indent="0" marL="0">
              <a:buNone/>
            </a:pPr>
            <a:r>
              <a:rPr lang="en-US" sz="850" dirty="0">
                <a:solidFill>
                  <a:srgbClr val="8EA0BD"/>
                </a:solidFill>
              </a:rPr>
              <a:t>Asset lifecycle • Vendor • Warranty</a:t>
            </a:r>
            <a:endParaRPr lang="en-US" sz="850" dirty="0"/>
          </a:p>
        </p:txBody>
      </p:sp>
      <p:sp>
        <p:nvSpPr>
          <p:cNvPr id="12" name="Shape 10"/>
          <p:cNvSpPr/>
          <p:nvPr/>
        </p:nvSpPr>
        <p:spPr>
          <a:xfrm>
            <a:off x="4306824" y="1600200"/>
            <a:ext cx="1664208" cy="1417320"/>
          </a:xfrm>
          <a:prstGeom prst="roundRect">
            <a:avLst>
              <a:gd name="adj" fmla="val 3871"/>
            </a:avLst>
          </a:prstGeom>
          <a:solidFill>
            <a:srgbClr val="111B2E"/>
          </a:solidFill>
          <a:ln w="15240">
            <a:solidFill>
              <a:srgbClr val="10B981"/>
            </a:solidFill>
            <a:prstDash val="solid"/>
          </a:ln>
        </p:spPr>
      </p:sp>
      <p:sp>
        <p:nvSpPr>
          <p:cNvPr id="13" name="Text 11"/>
          <p:cNvSpPr/>
          <p:nvPr/>
        </p:nvSpPr>
        <p:spPr>
          <a:xfrm>
            <a:off x="4398264" y="1764792"/>
            <a:ext cx="1481328" cy="210312"/>
          </a:xfrm>
          <a:prstGeom prst="rect">
            <a:avLst/>
          </a:prstGeom>
          <a:noFill/>
          <a:ln/>
        </p:spPr>
        <p:txBody>
          <a:bodyPr wrap="square" lIns="0" tIns="0" rIns="0" bIns="0" rtlCol="0" anchor="ctr"/>
          <a:lstStyle/>
          <a:p>
            <a:pPr algn="ctr" indent="0" marL="0">
              <a:buNone/>
            </a:pPr>
            <a:r>
              <a:rPr lang="en-US" sz="1020" b="1" dirty="0">
                <a:solidFill>
                  <a:srgbClr val="10B981"/>
                </a:solidFill>
              </a:rPr>
              <a:t>Sprint 3</a:t>
            </a:r>
            <a:endParaRPr lang="en-US" sz="1020" dirty="0"/>
          </a:p>
        </p:txBody>
      </p:sp>
      <p:sp>
        <p:nvSpPr>
          <p:cNvPr id="14" name="Text 12"/>
          <p:cNvSpPr/>
          <p:nvPr/>
        </p:nvSpPr>
        <p:spPr>
          <a:xfrm>
            <a:off x="4398264" y="2084832"/>
            <a:ext cx="1481328" cy="246888"/>
          </a:xfrm>
          <a:prstGeom prst="rect">
            <a:avLst/>
          </a:prstGeom>
          <a:noFill/>
          <a:ln/>
        </p:spPr>
        <p:txBody>
          <a:bodyPr wrap="square" lIns="0" tIns="0" rIns="0" bIns="0" rtlCol="0" anchor="ctr"/>
          <a:lstStyle/>
          <a:p>
            <a:pPr algn="ctr" indent="0" marL="0">
              <a:buNone/>
            </a:pPr>
            <a:r>
              <a:rPr lang="en-US" sz="1300" b="1" dirty="0">
                <a:solidFill>
                  <a:srgbClr val="F8FAFC"/>
                </a:solidFill>
              </a:rPr>
              <a:t>Maintenance</a:t>
            </a:r>
            <a:endParaRPr lang="en-US" sz="1300" dirty="0"/>
          </a:p>
        </p:txBody>
      </p:sp>
      <p:sp>
        <p:nvSpPr>
          <p:cNvPr id="15" name="Text 13"/>
          <p:cNvSpPr/>
          <p:nvPr/>
        </p:nvSpPr>
        <p:spPr>
          <a:xfrm>
            <a:off x="4416552" y="2441448"/>
            <a:ext cx="1444752" cy="365760"/>
          </a:xfrm>
          <a:prstGeom prst="rect">
            <a:avLst/>
          </a:prstGeom>
          <a:noFill/>
          <a:ln/>
        </p:spPr>
        <p:txBody>
          <a:bodyPr wrap="square" lIns="0" tIns="0" rIns="0" bIns="0" rtlCol="0" anchor="ctr"/>
          <a:lstStyle/>
          <a:p>
            <a:pPr algn="ctr" indent="0" marL="0">
              <a:buNone/>
            </a:pPr>
            <a:r>
              <a:rPr lang="en-US" sz="850" dirty="0">
                <a:solidFill>
                  <a:srgbClr val="8EA0BD"/>
                </a:solidFill>
              </a:rPr>
              <a:t>Plan • Schedule • Checklist</a:t>
            </a:r>
            <a:endParaRPr lang="en-US" sz="850" dirty="0"/>
          </a:p>
        </p:txBody>
      </p:sp>
      <p:sp>
        <p:nvSpPr>
          <p:cNvPr id="16" name="Shape 14"/>
          <p:cNvSpPr/>
          <p:nvPr/>
        </p:nvSpPr>
        <p:spPr>
          <a:xfrm>
            <a:off x="6208776" y="1600200"/>
            <a:ext cx="1664208" cy="1417320"/>
          </a:xfrm>
          <a:prstGeom prst="roundRect">
            <a:avLst>
              <a:gd name="adj" fmla="val 3871"/>
            </a:avLst>
          </a:prstGeom>
          <a:solidFill>
            <a:srgbClr val="111B2E"/>
          </a:solidFill>
          <a:ln w="15240">
            <a:solidFill>
              <a:srgbClr val="EF4444"/>
            </a:solidFill>
            <a:prstDash val="solid"/>
          </a:ln>
        </p:spPr>
      </p:sp>
      <p:sp>
        <p:nvSpPr>
          <p:cNvPr id="17" name="Text 15"/>
          <p:cNvSpPr/>
          <p:nvPr/>
        </p:nvSpPr>
        <p:spPr>
          <a:xfrm>
            <a:off x="6300216" y="1764792"/>
            <a:ext cx="1481328" cy="210312"/>
          </a:xfrm>
          <a:prstGeom prst="rect">
            <a:avLst/>
          </a:prstGeom>
          <a:noFill/>
          <a:ln/>
        </p:spPr>
        <p:txBody>
          <a:bodyPr wrap="square" lIns="0" tIns="0" rIns="0" bIns="0" rtlCol="0" anchor="ctr"/>
          <a:lstStyle/>
          <a:p>
            <a:pPr algn="ctr" indent="0" marL="0">
              <a:buNone/>
            </a:pPr>
            <a:r>
              <a:rPr lang="en-US" sz="1020" b="1" dirty="0">
                <a:solidFill>
                  <a:srgbClr val="EF4444"/>
                </a:solidFill>
              </a:rPr>
              <a:t>Sprint 4</a:t>
            </a:r>
            <a:endParaRPr lang="en-US" sz="1020" dirty="0"/>
          </a:p>
        </p:txBody>
      </p:sp>
      <p:sp>
        <p:nvSpPr>
          <p:cNvPr id="18" name="Text 16"/>
          <p:cNvSpPr/>
          <p:nvPr/>
        </p:nvSpPr>
        <p:spPr>
          <a:xfrm>
            <a:off x="6300216" y="2084832"/>
            <a:ext cx="1481328" cy="246888"/>
          </a:xfrm>
          <a:prstGeom prst="rect">
            <a:avLst/>
          </a:prstGeom>
          <a:noFill/>
          <a:ln/>
        </p:spPr>
        <p:txBody>
          <a:bodyPr wrap="square" lIns="0" tIns="0" rIns="0" bIns="0" rtlCol="0" anchor="ctr"/>
          <a:lstStyle/>
          <a:p>
            <a:pPr algn="ctr" indent="0" marL="0">
              <a:buNone/>
            </a:pPr>
            <a:r>
              <a:rPr lang="en-US" sz="1300" b="1" dirty="0">
                <a:solidFill>
                  <a:srgbClr val="F8FAFC"/>
                </a:solidFill>
              </a:rPr>
              <a:t>Work Order</a:t>
            </a:r>
            <a:endParaRPr lang="en-US" sz="1300" dirty="0"/>
          </a:p>
        </p:txBody>
      </p:sp>
      <p:sp>
        <p:nvSpPr>
          <p:cNvPr id="19" name="Text 17"/>
          <p:cNvSpPr/>
          <p:nvPr/>
        </p:nvSpPr>
        <p:spPr>
          <a:xfrm>
            <a:off x="6318504" y="2441448"/>
            <a:ext cx="1444752" cy="365760"/>
          </a:xfrm>
          <a:prstGeom prst="rect">
            <a:avLst/>
          </a:prstGeom>
          <a:noFill/>
          <a:ln/>
        </p:spPr>
        <p:txBody>
          <a:bodyPr wrap="square" lIns="0" tIns="0" rIns="0" bIns="0" rtlCol="0" anchor="ctr"/>
          <a:lstStyle/>
          <a:p>
            <a:pPr algn="ctr" indent="0" marL="0">
              <a:buNone/>
            </a:pPr>
            <a:r>
              <a:rPr lang="en-US" sz="850" dirty="0">
                <a:solidFill>
                  <a:srgbClr val="8EA0BD"/>
                </a:solidFill>
              </a:rPr>
              <a:t>Workflow • Dispatch • Assignment</a:t>
            </a:r>
            <a:endParaRPr lang="en-US" sz="850" dirty="0"/>
          </a:p>
        </p:txBody>
      </p:sp>
      <p:sp>
        <p:nvSpPr>
          <p:cNvPr id="20" name="Shape 18"/>
          <p:cNvSpPr/>
          <p:nvPr/>
        </p:nvSpPr>
        <p:spPr>
          <a:xfrm>
            <a:off x="8110728" y="1600200"/>
            <a:ext cx="1664208" cy="1417320"/>
          </a:xfrm>
          <a:prstGeom prst="roundRect">
            <a:avLst>
              <a:gd name="adj" fmla="val 3871"/>
            </a:avLst>
          </a:prstGeom>
          <a:solidFill>
            <a:srgbClr val="111B2E"/>
          </a:solidFill>
          <a:ln w="15240">
            <a:solidFill>
              <a:srgbClr val="F59E0B"/>
            </a:solidFill>
            <a:prstDash val="solid"/>
          </a:ln>
        </p:spPr>
      </p:sp>
      <p:sp>
        <p:nvSpPr>
          <p:cNvPr id="21" name="Text 19"/>
          <p:cNvSpPr/>
          <p:nvPr/>
        </p:nvSpPr>
        <p:spPr>
          <a:xfrm>
            <a:off x="8202168" y="1764792"/>
            <a:ext cx="1481328" cy="210312"/>
          </a:xfrm>
          <a:prstGeom prst="rect">
            <a:avLst/>
          </a:prstGeom>
          <a:noFill/>
          <a:ln/>
        </p:spPr>
        <p:txBody>
          <a:bodyPr wrap="square" lIns="0" tIns="0" rIns="0" bIns="0" rtlCol="0" anchor="ctr"/>
          <a:lstStyle/>
          <a:p>
            <a:pPr algn="ctr" indent="0" marL="0">
              <a:buNone/>
            </a:pPr>
            <a:r>
              <a:rPr lang="en-US" sz="1020" b="1" dirty="0">
                <a:solidFill>
                  <a:srgbClr val="F59E0B"/>
                </a:solidFill>
              </a:rPr>
              <a:t>Sprint 5</a:t>
            </a:r>
            <a:endParaRPr lang="en-US" sz="1020" dirty="0"/>
          </a:p>
        </p:txBody>
      </p:sp>
      <p:sp>
        <p:nvSpPr>
          <p:cNvPr id="22" name="Text 20"/>
          <p:cNvSpPr/>
          <p:nvPr/>
        </p:nvSpPr>
        <p:spPr>
          <a:xfrm>
            <a:off x="8202168" y="2084832"/>
            <a:ext cx="1481328" cy="246888"/>
          </a:xfrm>
          <a:prstGeom prst="rect">
            <a:avLst/>
          </a:prstGeom>
          <a:noFill/>
          <a:ln/>
        </p:spPr>
        <p:txBody>
          <a:bodyPr wrap="square" lIns="0" tIns="0" rIns="0" bIns="0" rtlCol="0" anchor="ctr"/>
          <a:lstStyle/>
          <a:p>
            <a:pPr algn="ctr" indent="0" marL="0">
              <a:buNone/>
            </a:pPr>
            <a:r>
              <a:rPr lang="en-US" sz="1300" b="1" dirty="0">
                <a:solidFill>
                  <a:srgbClr val="F8FAFC"/>
                </a:solidFill>
              </a:rPr>
              <a:t>Mobile</a:t>
            </a:r>
            <a:endParaRPr lang="en-US" sz="1300" dirty="0"/>
          </a:p>
        </p:txBody>
      </p:sp>
      <p:sp>
        <p:nvSpPr>
          <p:cNvPr id="23" name="Text 21"/>
          <p:cNvSpPr/>
          <p:nvPr/>
        </p:nvSpPr>
        <p:spPr>
          <a:xfrm>
            <a:off x="8220456" y="2441448"/>
            <a:ext cx="1444752" cy="365760"/>
          </a:xfrm>
          <a:prstGeom prst="rect">
            <a:avLst/>
          </a:prstGeom>
          <a:noFill/>
          <a:ln/>
        </p:spPr>
        <p:txBody>
          <a:bodyPr wrap="square" lIns="0" tIns="0" rIns="0" bIns="0" rtlCol="0" anchor="ctr"/>
          <a:lstStyle/>
          <a:p>
            <a:pPr algn="ctr" indent="0" marL="0">
              <a:buNone/>
            </a:pPr>
            <a:r>
              <a:rPr lang="en-US" sz="850" dirty="0">
                <a:solidFill>
                  <a:srgbClr val="8EA0BD"/>
                </a:solidFill>
              </a:rPr>
              <a:t>Technician end-to-end flow</a:t>
            </a:r>
            <a:endParaRPr lang="en-US" sz="850" dirty="0"/>
          </a:p>
        </p:txBody>
      </p:sp>
      <p:sp>
        <p:nvSpPr>
          <p:cNvPr id="24" name="Shape 22"/>
          <p:cNvSpPr/>
          <p:nvPr/>
        </p:nvSpPr>
        <p:spPr>
          <a:xfrm>
            <a:off x="10012680" y="1600200"/>
            <a:ext cx="1664208" cy="1417320"/>
          </a:xfrm>
          <a:prstGeom prst="roundRect">
            <a:avLst>
              <a:gd name="adj" fmla="val 3871"/>
            </a:avLst>
          </a:prstGeom>
          <a:solidFill>
            <a:srgbClr val="111B2E"/>
          </a:solidFill>
          <a:ln w="15240">
            <a:solidFill>
              <a:srgbClr val="8B5CF6"/>
            </a:solidFill>
            <a:prstDash val="solid"/>
          </a:ln>
        </p:spPr>
      </p:sp>
      <p:sp>
        <p:nvSpPr>
          <p:cNvPr id="25" name="Text 23"/>
          <p:cNvSpPr/>
          <p:nvPr/>
        </p:nvSpPr>
        <p:spPr>
          <a:xfrm>
            <a:off x="10104120" y="1764792"/>
            <a:ext cx="1481328" cy="210312"/>
          </a:xfrm>
          <a:prstGeom prst="rect">
            <a:avLst/>
          </a:prstGeom>
          <a:noFill/>
          <a:ln/>
        </p:spPr>
        <p:txBody>
          <a:bodyPr wrap="square" lIns="0" tIns="0" rIns="0" bIns="0" rtlCol="0" anchor="ctr"/>
          <a:lstStyle/>
          <a:p>
            <a:pPr algn="ctr" indent="0" marL="0">
              <a:buNone/>
            </a:pPr>
            <a:r>
              <a:rPr lang="en-US" sz="1020" b="1" dirty="0">
                <a:solidFill>
                  <a:srgbClr val="8B5CF6"/>
                </a:solidFill>
              </a:rPr>
              <a:t>Sprint 6–7</a:t>
            </a:r>
            <a:endParaRPr lang="en-US" sz="1020" dirty="0"/>
          </a:p>
        </p:txBody>
      </p:sp>
      <p:sp>
        <p:nvSpPr>
          <p:cNvPr id="26" name="Text 24"/>
          <p:cNvSpPr/>
          <p:nvPr/>
        </p:nvSpPr>
        <p:spPr>
          <a:xfrm>
            <a:off x="10104120" y="2084832"/>
            <a:ext cx="1481328" cy="246888"/>
          </a:xfrm>
          <a:prstGeom prst="rect">
            <a:avLst/>
          </a:prstGeom>
          <a:noFill/>
          <a:ln/>
        </p:spPr>
        <p:txBody>
          <a:bodyPr wrap="square" lIns="0" tIns="0" rIns="0" bIns="0" rtlCol="0" anchor="ctr"/>
          <a:lstStyle/>
          <a:p>
            <a:pPr algn="ctr" indent="0" marL="0">
              <a:buNone/>
            </a:pPr>
            <a:r>
              <a:rPr lang="en-US" sz="1300" b="1" dirty="0">
                <a:solidFill>
                  <a:srgbClr val="F8FAFC"/>
                </a:solidFill>
              </a:rPr>
              <a:t>Release</a:t>
            </a:r>
            <a:endParaRPr lang="en-US" sz="1300" dirty="0"/>
          </a:p>
        </p:txBody>
      </p:sp>
      <p:sp>
        <p:nvSpPr>
          <p:cNvPr id="27" name="Text 25"/>
          <p:cNvSpPr/>
          <p:nvPr/>
        </p:nvSpPr>
        <p:spPr>
          <a:xfrm>
            <a:off x="10122408" y="2441448"/>
            <a:ext cx="1444752" cy="365760"/>
          </a:xfrm>
          <a:prstGeom prst="rect">
            <a:avLst/>
          </a:prstGeom>
          <a:noFill/>
          <a:ln/>
        </p:spPr>
        <p:txBody>
          <a:bodyPr wrap="square" lIns="0" tIns="0" rIns="0" bIns="0" rtlCol="0" anchor="ctr"/>
          <a:lstStyle/>
          <a:p>
            <a:pPr algn="ctr" indent="0" marL="0">
              <a:buNone/>
            </a:pPr>
            <a:r>
              <a:rPr lang="en-US" sz="850" dirty="0">
                <a:solidFill>
                  <a:srgbClr val="8EA0BD"/>
                </a:solidFill>
              </a:rPr>
              <a:t>Dashboard • Audit • Test • Deploy</a:t>
            </a:r>
            <a:endParaRPr lang="en-US" sz="850" dirty="0"/>
          </a:p>
        </p:txBody>
      </p:sp>
      <p:sp>
        <p:nvSpPr>
          <p:cNvPr id="28" name="Text 26"/>
          <p:cNvSpPr/>
          <p:nvPr/>
        </p:nvSpPr>
        <p:spPr>
          <a:xfrm>
            <a:off x="566928" y="3429000"/>
            <a:ext cx="2011680" cy="320040"/>
          </a:xfrm>
          <a:prstGeom prst="rect">
            <a:avLst/>
          </a:prstGeom>
          <a:noFill/>
          <a:ln/>
        </p:spPr>
        <p:txBody>
          <a:bodyPr wrap="square" lIns="0" tIns="0" rIns="0" bIns="0" rtlCol="0" anchor="ctr"/>
          <a:lstStyle/>
          <a:p>
            <a:pPr indent="0" marL="0">
              <a:buNone/>
            </a:pPr>
            <a:r>
              <a:rPr lang="en-US" sz="1600" b="1" dirty="0">
                <a:solidFill>
                  <a:srgbClr val="22D3EE"/>
                </a:solidFill>
              </a:rPr>
              <a:t>Đầu ra cuối kỳ</a:t>
            </a:r>
            <a:endParaRPr lang="en-US" sz="1600" dirty="0"/>
          </a:p>
        </p:txBody>
      </p:sp>
      <p:sp>
        <p:nvSpPr>
          <p:cNvPr id="29" name="Shape 27"/>
          <p:cNvSpPr/>
          <p:nvPr/>
        </p:nvSpPr>
        <p:spPr>
          <a:xfrm>
            <a:off x="566928" y="3886200"/>
            <a:ext cx="3429000" cy="713232"/>
          </a:xfrm>
          <a:prstGeom prst="roundRect">
            <a:avLst>
              <a:gd name="adj" fmla="val 6410"/>
            </a:avLst>
          </a:prstGeom>
          <a:solidFill>
            <a:srgbClr val="101C30"/>
          </a:solidFill>
          <a:ln w="12700">
            <a:solidFill>
              <a:srgbClr val="213553"/>
            </a:solidFill>
            <a:prstDash val="solid"/>
          </a:ln>
        </p:spPr>
      </p:sp>
      <p:sp>
        <p:nvSpPr>
          <p:cNvPr id="30" name="Text 28"/>
          <p:cNvSpPr/>
          <p:nvPr/>
        </p:nvSpPr>
        <p:spPr>
          <a:xfrm>
            <a:off x="694944" y="3986784"/>
            <a:ext cx="1417320" cy="210312"/>
          </a:xfrm>
          <a:prstGeom prst="rect">
            <a:avLst/>
          </a:prstGeom>
          <a:noFill/>
          <a:ln/>
        </p:spPr>
        <p:txBody>
          <a:bodyPr wrap="square" lIns="0" tIns="0" rIns="0" bIns="0" rtlCol="0" anchor="ctr"/>
          <a:lstStyle/>
          <a:p>
            <a:pPr indent="0" marL="0">
              <a:buNone/>
            </a:pPr>
            <a:r>
              <a:rPr lang="en-US" sz="1150" b="1" dirty="0">
                <a:solidFill>
                  <a:srgbClr val="F8FAFC"/>
                </a:solidFill>
              </a:rPr>
              <a:t>Web Admin</a:t>
            </a:r>
            <a:endParaRPr lang="en-US" sz="1150" dirty="0"/>
          </a:p>
        </p:txBody>
      </p:sp>
      <p:sp>
        <p:nvSpPr>
          <p:cNvPr id="31" name="Text 29"/>
          <p:cNvSpPr/>
          <p:nvPr/>
        </p:nvSpPr>
        <p:spPr>
          <a:xfrm>
            <a:off x="1892808" y="3986784"/>
            <a:ext cx="1938528" cy="402336"/>
          </a:xfrm>
          <a:prstGeom prst="rect">
            <a:avLst/>
          </a:prstGeom>
          <a:noFill/>
          <a:ln/>
        </p:spPr>
        <p:txBody>
          <a:bodyPr wrap="square" lIns="0" tIns="0" rIns="0" bIns="0" rtlCol="0" anchor="ctr"/>
          <a:lstStyle/>
          <a:p>
            <a:pPr indent="0" marL="0">
              <a:buNone/>
            </a:pPr>
            <a:r>
              <a:rPr lang="en-US" sz="880" dirty="0">
                <a:solidFill>
                  <a:srgbClr val="D7E0EF"/>
                </a:solidFill>
              </a:rPr>
              <a:t>Quản trị tenant, user, asset, maintenance</a:t>
            </a:r>
            <a:endParaRPr lang="en-US" sz="880" dirty="0"/>
          </a:p>
        </p:txBody>
      </p:sp>
      <p:sp>
        <p:nvSpPr>
          <p:cNvPr id="32" name="Shape 30"/>
          <p:cNvSpPr/>
          <p:nvPr/>
        </p:nvSpPr>
        <p:spPr>
          <a:xfrm>
            <a:off x="4361688" y="3886200"/>
            <a:ext cx="3429000" cy="713232"/>
          </a:xfrm>
          <a:prstGeom prst="roundRect">
            <a:avLst>
              <a:gd name="adj" fmla="val 6410"/>
            </a:avLst>
          </a:prstGeom>
          <a:solidFill>
            <a:srgbClr val="101C30"/>
          </a:solidFill>
          <a:ln w="12700">
            <a:solidFill>
              <a:srgbClr val="213553"/>
            </a:solidFill>
            <a:prstDash val="solid"/>
          </a:ln>
        </p:spPr>
      </p:sp>
      <p:sp>
        <p:nvSpPr>
          <p:cNvPr id="33" name="Text 31"/>
          <p:cNvSpPr/>
          <p:nvPr/>
        </p:nvSpPr>
        <p:spPr>
          <a:xfrm>
            <a:off x="4489704" y="3986784"/>
            <a:ext cx="1417320" cy="210312"/>
          </a:xfrm>
          <a:prstGeom prst="rect">
            <a:avLst/>
          </a:prstGeom>
          <a:noFill/>
          <a:ln/>
        </p:spPr>
        <p:txBody>
          <a:bodyPr wrap="square" lIns="0" tIns="0" rIns="0" bIns="0" rtlCol="0" anchor="ctr"/>
          <a:lstStyle/>
          <a:p>
            <a:pPr indent="0" marL="0">
              <a:buNone/>
            </a:pPr>
            <a:r>
              <a:rPr lang="en-US" sz="1150" b="1" dirty="0">
                <a:solidFill>
                  <a:srgbClr val="F8FAFC"/>
                </a:solidFill>
              </a:rPr>
              <a:t>Web End-user</a:t>
            </a:r>
            <a:endParaRPr lang="en-US" sz="1150" dirty="0"/>
          </a:p>
        </p:txBody>
      </p:sp>
      <p:sp>
        <p:nvSpPr>
          <p:cNvPr id="34" name="Text 32"/>
          <p:cNvSpPr/>
          <p:nvPr/>
        </p:nvSpPr>
        <p:spPr>
          <a:xfrm>
            <a:off x="5687568" y="3986784"/>
            <a:ext cx="1938528" cy="402336"/>
          </a:xfrm>
          <a:prstGeom prst="rect">
            <a:avLst/>
          </a:prstGeom>
          <a:noFill/>
          <a:ln/>
        </p:spPr>
        <p:txBody>
          <a:bodyPr wrap="square" lIns="0" tIns="0" rIns="0" bIns="0" rtlCol="0" anchor="ctr"/>
          <a:lstStyle/>
          <a:p>
            <a:pPr indent="0" marL="0">
              <a:buNone/>
            </a:pPr>
            <a:r>
              <a:rPr lang="en-US" sz="880" dirty="0">
                <a:solidFill>
                  <a:srgbClr val="D7E0EF"/>
                </a:solidFill>
              </a:rPr>
              <a:t>Theo dõi tài sản, báo hỏng và công việc</a:t>
            </a:r>
            <a:endParaRPr lang="en-US" sz="880" dirty="0"/>
          </a:p>
        </p:txBody>
      </p:sp>
      <p:sp>
        <p:nvSpPr>
          <p:cNvPr id="35" name="Shape 33"/>
          <p:cNvSpPr/>
          <p:nvPr/>
        </p:nvSpPr>
        <p:spPr>
          <a:xfrm>
            <a:off x="8156448" y="3886200"/>
            <a:ext cx="3429000" cy="713232"/>
          </a:xfrm>
          <a:prstGeom prst="roundRect">
            <a:avLst>
              <a:gd name="adj" fmla="val 6410"/>
            </a:avLst>
          </a:prstGeom>
          <a:solidFill>
            <a:srgbClr val="101C30"/>
          </a:solidFill>
          <a:ln w="12700">
            <a:solidFill>
              <a:srgbClr val="213553"/>
            </a:solidFill>
            <a:prstDash val="solid"/>
          </a:ln>
        </p:spPr>
      </p:sp>
      <p:sp>
        <p:nvSpPr>
          <p:cNvPr id="36" name="Text 34"/>
          <p:cNvSpPr/>
          <p:nvPr/>
        </p:nvSpPr>
        <p:spPr>
          <a:xfrm>
            <a:off x="8284464" y="3986784"/>
            <a:ext cx="1417320" cy="210312"/>
          </a:xfrm>
          <a:prstGeom prst="rect">
            <a:avLst/>
          </a:prstGeom>
          <a:noFill/>
          <a:ln/>
        </p:spPr>
        <p:txBody>
          <a:bodyPr wrap="square" lIns="0" tIns="0" rIns="0" bIns="0" rtlCol="0" anchor="ctr"/>
          <a:lstStyle/>
          <a:p>
            <a:pPr indent="0" marL="0">
              <a:buNone/>
            </a:pPr>
            <a:r>
              <a:rPr lang="en-US" sz="1150" b="1" dirty="0">
                <a:solidFill>
                  <a:srgbClr val="F8FAFC"/>
                </a:solidFill>
              </a:rPr>
              <a:t>Mobile Technician</a:t>
            </a:r>
            <a:endParaRPr lang="en-US" sz="1150" dirty="0"/>
          </a:p>
        </p:txBody>
      </p:sp>
      <p:sp>
        <p:nvSpPr>
          <p:cNvPr id="37" name="Text 35"/>
          <p:cNvSpPr/>
          <p:nvPr/>
        </p:nvSpPr>
        <p:spPr>
          <a:xfrm>
            <a:off x="9482328" y="3986784"/>
            <a:ext cx="1938528" cy="402336"/>
          </a:xfrm>
          <a:prstGeom prst="rect">
            <a:avLst/>
          </a:prstGeom>
          <a:noFill/>
          <a:ln/>
        </p:spPr>
        <p:txBody>
          <a:bodyPr wrap="square" lIns="0" tIns="0" rIns="0" bIns="0" rtlCol="0" anchor="ctr"/>
          <a:lstStyle/>
          <a:p>
            <a:pPr indent="0" marL="0">
              <a:buNone/>
            </a:pPr>
            <a:r>
              <a:rPr lang="en-US" sz="880" dirty="0">
                <a:solidFill>
                  <a:srgbClr val="D7E0EF"/>
                </a:solidFill>
              </a:rPr>
              <a:t>Nhận việc, checklist, ảnh, hoàn thành</a:t>
            </a:r>
            <a:endParaRPr lang="en-US" sz="880" dirty="0"/>
          </a:p>
        </p:txBody>
      </p:sp>
      <p:sp>
        <p:nvSpPr>
          <p:cNvPr id="38" name="Shape 36"/>
          <p:cNvSpPr/>
          <p:nvPr/>
        </p:nvSpPr>
        <p:spPr>
          <a:xfrm>
            <a:off x="566928" y="4846320"/>
            <a:ext cx="3429000" cy="713232"/>
          </a:xfrm>
          <a:prstGeom prst="roundRect">
            <a:avLst>
              <a:gd name="adj" fmla="val 6410"/>
            </a:avLst>
          </a:prstGeom>
          <a:solidFill>
            <a:srgbClr val="101C30"/>
          </a:solidFill>
          <a:ln w="12700">
            <a:solidFill>
              <a:srgbClr val="213553"/>
            </a:solidFill>
            <a:prstDash val="solid"/>
          </a:ln>
        </p:spPr>
      </p:sp>
      <p:sp>
        <p:nvSpPr>
          <p:cNvPr id="39" name="Text 37"/>
          <p:cNvSpPr/>
          <p:nvPr/>
        </p:nvSpPr>
        <p:spPr>
          <a:xfrm>
            <a:off x="694944" y="4946904"/>
            <a:ext cx="1417320" cy="210312"/>
          </a:xfrm>
          <a:prstGeom prst="rect">
            <a:avLst/>
          </a:prstGeom>
          <a:noFill/>
          <a:ln/>
        </p:spPr>
        <p:txBody>
          <a:bodyPr wrap="square" lIns="0" tIns="0" rIns="0" bIns="0" rtlCol="0" anchor="ctr"/>
          <a:lstStyle/>
          <a:p>
            <a:pPr indent="0" marL="0">
              <a:buNone/>
            </a:pPr>
            <a:r>
              <a:rPr lang="en-US" sz="1150" b="1" dirty="0">
                <a:solidFill>
                  <a:srgbClr val="F8FAFC"/>
                </a:solidFill>
              </a:rPr>
              <a:t>Backend Microservices</a:t>
            </a:r>
            <a:endParaRPr lang="en-US" sz="1150" dirty="0"/>
          </a:p>
        </p:txBody>
      </p:sp>
      <p:sp>
        <p:nvSpPr>
          <p:cNvPr id="40" name="Text 38"/>
          <p:cNvSpPr/>
          <p:nvPr/>
        </p:nvSpPr>
        <p:spPr>
          <a:xfrm>
            <a:off x="1892808" y="4946904"/>
            <a:ext cx="1938528" cy="402336"/>
          </a:xfrm>
          <a:prstGeom prst="rect">
            <a:avLst/>
          </a:prstGeom>
          <a:noFill/>
          <a:ln/>
        </p:spPr>
        <p:txBody>
          <a:bodyPr wrap="square" lIns="0" tIns="0" rIns="0" bIns="0" rtlCol="0" anchor="ctr"/>
          <a:lstStyle/>
          <a:p>
            <a:pPr indent="0" marL="0">
              <a:buNone/>
            </a:pPr>
            <a:r>
              <a:rPr lang="en-US" sz="880" dirty="0">
                <a:solidFill>
                  <a:srgbClr val="D7E0EF"/>
                </a:solidFill>
              </a:rPr>
              <a:t>Gateway + 5 service nghiệp vụ</a:t>
            </a:r>
            <a:endParaRPr lang="en-US" sz="880" dirty="0"/>
          </a:p>
        </p:txBody>
      </p:sp>
      <p:sp>
        <p:nvSpPr>
          <p:cNvPr id="41" name="Shape 39"/>
          <p:cNvSpPr/>
          <p:nvPr/>
        </p:nvSpPr>
        <p:spPr>
          <a:xfrm>
            <a:off x="4361688" y="4846320"/>
            <a:ext cx="3429000" cy="713232"/>
          </a:xfrm>
          <a:prstGeom prst="roundRect">
            <a:avLst>
              <a:gd name="adj" fmla="val 6410"/>
            </a:avLst>
          </a:prstGeom>
          <a:solidFill>
            <a:srgbClr val="101C30"/>
          </a:solidFill>
          <a:ln w="12700">
            <a:solidFill>
              <a:srgbClr val="213553"/>
            </a:solidFill>
            <a:prstDash val="solid"/>
          </a:ln>
        </p:spPr>
      </p:sp>
      <p:sp>
        <p:nvSpPr>
          <p:cNvPr id="42" name="Text 40"/>
          <p:cNvSpPr/>
          <p:nvPr/>
        </p:nvSpPr>
        <p:spPr>
          <a:xfrm>
            <a:off x="4489704" y="4946904"/>
            <a:ext cx="1417320" cy="210312"/>
          </a:xfrm>
          <a:prstGeom prst="rect">
            <a:avLst/>
          </a:prstGeom>
          <a:noFill/>
          <a:ln/>
        </p:spPr>
        <p:txBody>
          <a:bodyPr wrap="square" lIns="0" tIns="0" rIns="0" bIns="0" rtlCol="0" anchor="ctr"/>
          <a:lstStyle/>
          <a:p>
            <a:pPr indent="0" marL="0">
              <a:buNone/>
            </a:pPr>
            <a:r>
              <a:rPr lang="en-US" sz="1150" b="1" dirty="0">
                <a:solidFill>
                  <a:srgbClr val="F8FAFC"/>
                </a:solidFill>
              </a:rPr>
              <a:t>Deploy thực tế</a:t>
            </a:r>
            <a:endParaRPr lang="en-US" sz="1150" dirty="0"/>
          </a:p>
        </p:txBody>
      </p:sp>
      <p:sp>
        <p:nvSpPr>
          <p:cNvPr id="43" name="Text 41"/>
          <p:cNvSpPr/>
          <p:nvPr/>
        </p:nvSpPr>
        <p:spPr>
          <a:xfrm>
            <a:off x="5687568" y="4946904"/>
            <a:ext cx="1938528" cy="402336"/>
          </a:xfrm>
          <a:prstGeom prst="rect">
            <a:avLst/>
          </a:prstGeom>
          <a:noFill/>
          <a:ln/>
        </p:spPr>
        <p:txBody>
          <a:bodyPr wrap="square" lIns="0" tIns="0" rIns="0" bIns="0" rtlCol="0" anchor="ctr"/>
          <a:lstStyle/>
          <a:p>
            <a:pPr indent="0" marL="0">
              <a:buNone/>
            </a:pPr>
            <a:r>
              <a:rPr lang="en-US" sz="880" dirty="0">
                <a:solidFill>
                  <a:srgbClr val="D7E0EF"/>
                </a:solidFill>
              </a:rPr>
              <a:t>Docker Compose trên Ubuntu Server</a:t>
            </a:r>
            <a:endParaRPr lang="en-US" sz="880" dirty="0"/>
          </a:p>
        </p:txBody>
      </p:sp>
      <p:sp>
        <p:nvSpPr>
          <p:cNvPr id="44" name="Shape 42"/>
          <p:cNvSpPr/>
          <p:nvPr/>
        </p:nvSpPr>
        <p:spPr>
          <a:xfrm>
            <a:off x="8156448" y="4846320"/>
            <a:ext cx="3429000" cy="713232"/>
          </a:xfrm>
          <a:prstGeom prst="roundRect">
            <a:avLst>
              <a:gd name="adj" fmla="val 6410"/>
            </a:avLst>
          </a:prstGeom>
          <a:solidFill>
            <a:srgbClr val="101C30"/>
          </a:solidFill>
          <a:ln w="12700">
            <a:solidFill>
              <a:srgbClr val="213553"/>
            </a:solidFill>
            <a:prstDash val="solid"/>
          </a:ln>
        </p:spPr>
      </p:sp>
      <p:sp>
        <p:nvSpPr>
          <p:cNvPr id="45" name="Text 43"/>
          <p:cNvSpPr/>
          <p:nvPr/>
        </p:nvSpPr>
        <p:spPr>
          <a:xfrm>
            <a:off x="8284464" y="4946904"/>
            <a:ext cx="1417320" cy="210312"/>
          </a:xfrm>
          <a:prstGeom prst="rect">
            <a:avLst/>
          </a:prstGeom>
          <a:noFill/>
          <a:ln/>
        </p:spPr>
        <p:txBody>
          <a:bodyPr wrap="square" lIns="0" tIns="0" rIns="0" bIns="0" rtlCol="0" anchor="ctr"/>
          <a:lstStyle/>
          <a:p>
            <a:pPr indent="0" marL="0">
              <a:buNone/>
            </a:pPr>
            <a:r>
              <a:rPr lang="en-US" sz="1150" b="1" dirty="0">
                <a:solidFill>
                  <a:srgbClr val="F8FAFC"/>
                </a:solidFill>
              </a:rPr>
              <a:t>Bộ tài liệu</a:t>
            </a:r>
            <a:endParaRPr lang="en-US" sz="1150" dirty="0"/>
          </a:p>
        </p:txBody>
      </p:sp>
      <p:sp>
        <p:nvSpPr>
          <p:cNvPr id="46" name="Text 44"/>
          <p:cNvSpPr/>
          <p:nvPr/>
        </p:nvSpPr>
        <p:spPr>
          <a:xfrm>
            <a:off x="9482328" y="4946904"/>
            <a:ext cx="1938528" cy="402336"/>
          </a:xfrm>
          <a:prstGeom prst="rect">
            <a:avLst/>
          </a:prstGeom>
          <a:noFill/>
          <a:ln/>
        </p:spPr>
        <p:txBody>
          <a:bodyPr wrap="square" lIns="0" tIns="0" rIns="0" bIns="0" rtlCol="0" anchor="ctr"/>
          <a:lstStyle/>
          <a:p>
            <a:pPr indent="0" marL="0">
              <a:buNone/>
            </a:pPr>
            <a:r>
              <a:rPr lang="en-US" sz="880" dirty="0">
                <a:solidFill>
                  <a:srgbClr val="D7E0EF"/>
                </a:solidFill>
              </a:rPr>
              <a:t>SRS • Design • Test • Deploy • User Manual</a:t>
            </a:r>
            <a:endParaRPr lang="en-US" sz="880" dirty="0"/>
          </a:p>
        </p:txBody>
      </p:sp>
      <p:sp>
        <p:nvSpPr>
          <p:cNvPr id="47" name="Shape 45"/>
          <p:cNvSpPr/>
          <p:nvPr/>
        </p:nvSpPr>
        <p:spPr>
          <a:xfrm>
            <a:off x="2148840" y="5897880"/>
            <a:ext cx="7909560" cy="475488"/>
          </a:xfrm>
          <a:prstGeom prst="roundRect">
            <a:avLst>
              <a:gd name="adj" fmla="val 15385"/>
            </a:avLst>
          </a:prstGeom>
          <a:solidFill>
            <a:srgbClr val="0F2940"/>
          </a:solidFill>
          <a:ln w="16510">
            <a:solidFill>
              <a:srgbClr val="22D3EE"/>
            </a:solidFill>
            <a:prstDash val="solid"/>
          </a:ln>
        </p:spPr>
      </p:sp>
      <p:sp>
        <p:nvSpPr>
          <p:cNvPr id="48" name="Text 46"/>
          <p:cNvSpPr/>
          <p:nvPr/>
        </p:nvSpPr>
        <p:spPr>
          <a:xfrm>
            <a:off x="2331720" y="6035040"/>
            <a:ext cx="7543800" cy="201168"/>
          </a:xfrm>
          <a:prstGeom prst="rect">
            <a:avLst/>
          </a:prstGeom>
          <a:noFill/>
          <a:ln/>
        </p:spPr>
        <p:txBody>
          <a:bodyPr wrap="square" lIns="0" tIns="0" rIns="0" bIns="0" rtlCol="0" anchor="ctr"/>
          <a:lstStyle/>
          <a:p>
            <a:pPr algn="ctr" indent="0" marL="0">
              <a:buNone/>
            </a:pPr>
            <a:r>
              <a:rPr lang="en-US" sz="1120" b="1" dirty="0">
                <a:solidFill>
                  <a:srgbClr val="F8FAFC"/>
                </a:solidFill>
              </a:rPr>
              <a:t>Mục tiêu cuối: demo được một quy trình bảo trì hoàn chỉnh trên Web + Mobile, có cách ly tenant và audit rõ ràng.</a:t>
            </a:r>
            <a:endParaRPr lang="en-US" sz="1120" dirty="0"/>
          </a:p>
        </p:txBody>
      </p:sp>
      <p:sp>
        <p:nvSpPr>
          <p:cNvPr id="25" name="Slide Number Placeholder 0"/>
          <p:cNvSpPr>
            <a:spLocks noGrp="1"/>
          </p:cNvSpPr>
          <p:nvPr>
            <p:ph type="sldNum" sz="quarter" idx="4294967295"/>
          </p:nvPr>
        </p:nvSpPr>
        <p:spPr>
          <a:xfrm>
            <a:off x="11795760" y="6510528"/>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E8CA8"/>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Duy Tan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PBL6 - Nền tảng SaaS quản lý tài sản, bảo trì và điều phối kỹ thuật viên</dc:title>
  <dc:subject>PBL6 SaaS Asset Maintenance Project</dc:subject>
  <dc:creator>OpenAI</dc:creator>
  <cp:lastModifiedBy>OpenAI</cp:lastModifiedBy>
  <cp:revision>1</cp:revision>
  <dcterms:created xsi:type="dcterms:W3CDTF">2026-09-15T03:44:33Z</dcterms:created>
  <dcterms:modified xsi:type="dcterms:W3CDTF">2026-09-15T03:44:33Z</dcterms:modified>
</cp:coreProperties>
</file>